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 Italics" charset="1" panose="00000800000000000000"/>
      <p:regular r:id="rId18"/>
    </p:embeddedFon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Poppins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jpeg" Type="http://schemas.openxmlformats.org/officeDocument/2006/relationships/image"/><Relationship Id="rId7" Target="../media/image10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Relationship Id="rId7" Target="../media/image5.jpeg" Type="http://schemas.openxmlformats.org/officeDocument/2006/relationships/image"/><Relationship Id="rId8" Target="../media/image10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Relationship Id="rId7" Target="../media/image5.jpeg" Type="http://schemas.openxmlformats.org/officeDocument/2006/relationships/image"/><Relationship Id="rId8" Target="../media/image10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Relationship Id="rId7" Target="../media/image5.jpeg" Type="http://schemas.openxmlformats.org/officeDocument/2006/relationships/image"/><Relationship Id="rId8" Target="../media/image10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9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Relationship Id="rId7" Target="../media/image5.jpe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0.png" Type="http://schemas.openxmlformats.org/officeDocument/2006/relationships/image"/><Relationship Id="rId12" Target="../media/image9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Relationship Id="rId7" Target="../media/image5.jpe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ankanmondal080205/solvers_drift_detection" TargetMode="External" Type="http://schemas.openxmlformats.org/officeDocument/2006/relationships/hyperlink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https://drive.google.com/file/d/1rSBfk7IRv2Wk2saqysVBplsEkpDyJzKc/view?usp=drive_link" TargetMode="External" Type="http://schemas.openxmlformats.org/officeDocument/2006/relationships/hyperlink"/><Relationship Id="rId14" Target="../media/image10.png" Type="http://schemas.openxmlformats.org/officeDocument/2006/relationships/image"/><Relationship Id="rId15" Target="../media/image9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Relationship Id="rId7" Target="../media/image5.jpe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irds.ieee.org/images/files/pdf/2017/2017IRDS_MM.pdf" TargetMode="External" Type="http://schemas.openxmlformats.org/officeDocument/2006/relationships/hyperlink"/><Relationship Id="rId11" Target="../media/image10.png" Type="http://schemas.openxmlformats.org/officeDocument/2006/relationships/image"/><Relationship Id="rId12" Target="../media/image9.png" Type="http://schemas.openxmlformats.org/officeDocument/2006/relationships/image"/><Relationship Id="rId13" Target="https://irds.ieee.org/images/files/pdf/2024/2024IRDS_MM.pdf" TargetMode="External" Type="http://schemas.openxmlformats.org/officeDocument/2006/relationships/hyperlink"/><Relationship Id="rId14" Target="https://semiengineering.com/7nm-fab-challenges/" TargetMode="External" Type="http://schemas.openxmlformats.org/officeDocument/2006/relationships/hyperlink"/><Relationship Id="rId15" Target="https://docs.opencv.org/4.13.0/d4/dc6/tutorial_py_template_matching.html" TargetMode="External" Type="http://schemas.openxmlformats.org/officeDocument/2006/relationships/hyperlink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Relationship Id="rId7" Target="../media/image5.jpe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1714500"/>
            <a:ext cx="71323" cy="414223"/>
            <a:chOff x="0" y="0"/>
            <a:chExt cx="95098" cy="552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123" cy="552323"/>
            </a:xfrm>
            <a:custGeom>
              <a:avLst/>
              <a:gdLst/>
              <a:ahLst/>
              <a:cxnLst/>
              <a:rect r="r" b="b" t="t" l="l"/>
              <a:pathLst>
                <a:path h="552323" w="95123">
                  <a:moveTo>
                    <a:pt x="0" y="0"/>
                  </a:moveTo>
                  <a:lnTo>
                    <a:pt x="95123" y="0"/>
                  </a:lnTo>
                  <a:lnTo>
                    <a:pt x="95123" y="552323"/>
                  </a:lnTo>
                  <a:lnTo>
                    <a:pt x="0" y="552323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64082" y="1746123"/>
            <a:ext cx="3677107" cy="562204"/>
            <a:chOff x="0" y="0"/>
            <a:chExt cx="4902810" cy="7496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02835" cy="749554"/>
            </a:xfrm>
            <a:custGeom>
              <a:avLst/>
              <a:gdLst/>
              <a:ahLst/>
              <a:cxnLst/>
              <a:rect r="r" b="b" t="t" l="l"/>
              <a:pathLst>
                <a:path h="749554" w="4902835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4703572" y="0"/>
                  </a:lnTo>
                  <a:cubicBezTo>
                    <a:pt x="4813681" y="0"/>
                    <a:pt x="4902835" y="89154"/>
                    <a:pt x="4902835" y="199263"/>
                  </a:cubicBezTo>
                  <a:lnTo>
                    <a:pt x="4902835" y="550291"/>
                  </a:lnTo>
                  <a:cubicBezTo>
                    <a:pt x="4902835" y="660400"/>
                    <a:pt x="4813681" y="749554"/>
                    <a:pt x="4703572" y="749554"/>
                  </a:cubicBezTo>
                  <a:lnTo>
                    <a:pt x="199263" y="749554"/>
                  </a:lnTo>
                  <a:cubicBezTo>
                    <a:pt x="89154" y="749554"/>
                    <a:pt x="0" y="660400"/>
                    <a:pt x="0" y="550291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47725" y="2559482"/>
            <a:ext cx="16592093" cy="2735123"/>
            <a:chOff x="0" y="0"/>
            <a:chExt cx="22122790" cy="36468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2764" cy="3646831"/>
            </a:xfrm>
            <a:custGeom>
              <a:avLst/>
              <a:gdLst/>
              <a:ahLst/>
              <a:cxnLst/>
              <a:rect r="r" b="b" t="t" l="l"/>
              <a:pathLst>
                <a:path h="3646831" w="22122764">
                  <a:moveTo>
                    <a:pt x="0" y="80782"/>
                  </a:moveTo>
                  <a:cubicBezTo>
                    <a:pt x="0" y="36150"/>
                    <a:pt x="43307" y="0"/>
                    <a:pt x="96774" y="0"/>
                  </a:cubicBezTo>
                  <a:lnTo>
                    <a:pt x="22025990" y="0"/>
                  </a:lnTo>
                  <a:cubicBezTo>
                    <a:pt x="22079457" y="0"/>
                    <a:pt x="22122764" y="36150"/>
                    <a:pt x="22122764" y="80782"/>
                  </a:cubicBezTo>
                  <a:lnTo>
                    <a:pt x="22122764" y="3566049"/>
                  </a:lnTo>
                  <a:cubicBezTo>
                    <a:pt x="22122764" y="3610680"/>
                    <a:pt x="22079457" y="3646831"/>
                    <a:pt x="22025990" y="3646831"/>
                  </a:cubicBezTo>
                  <a:lnTo>
                    <a:pt x="96774" y="3646831"/>
                  </a:lnTo>
                  <a:cubicBezTo>
                    <a:pt x="43307" y="3646831"/>
                    <a:pt x="0" y="3610680"/>
                    <a:pt x="0" y="3566049"/>
                  </a:cubicBezTo>
                  <a:close/>
                </a:path>
              </a:pathLst>
            </a:custGeom>
            <a:solidFill>
              <a:srgbClr val="273383">
                <a:alpha val="8627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70966" y="2582723"/>
            <a:ext cx="1656893" cy="656996"/>
            <a:chOff x="0" y="0"/>
            <a:chExt cx="2209190" cy="8759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9165" cy="876046"/>
            </a:xfrm>
            <a:custGeom>
              <a:avLst/>
              <a:gdLst/>
              <a:ahLst/>
              <a:cxnLst/>
              <a:rect r="r" b="b" t="t" l="l"/>
              <a:pathLst>
                <a:path h="876046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526487" y="2582723"/>
            <a:ext cx="3315157" cy="656996"/>
            <a:chOff x="0" y="0"/>
            <a:chExt cx="4420210" cy="8759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20235" cy="876046"/>
            </a:xfrm>
            <a:custGeom>
              <a:avLst/>
              <a:gdLst/>
              <a:ahLst/>
              <a:cxnLst/>
              <a:rect r="r" b="b" t="t" l="l"/>
              <a:pathLst>
                <a:path h="876046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34786" y="2582723"/>
            <a:ext cx="6628943" cy="656996"/>
            <a:chOff x="0" y="0"/>
            <a:chExt cx="8838590" cy="8759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38565" cy="876046"/>
            </a:xfrm>
            <a:custGeom>
              <a:avLst/>
              <a:gdLst/>
              <a:ahLst/>
              <a:cxnLst/>
              <a:rect r="r" b="b" t="t" l="l"/>
              <a:pathLst>
                <a:path h="876046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52756" y="2582723"/>
            <a:ext cx="4972050" cy="656996"/>
            <a:chOff x="0" y="0"/>
            <a:chExt cx="6629400" cy="8759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29400" cy="876046"/>
            </a:xfrm>
            <a:custGeom>
              <a:avLst/>
              <a:gdLst/>
              <a:ahLst/>
              <a:cxnLst/>
              <a:rect r="r" b="b" t="t" l="l"/>
              <a:pathLst>
                <a:path h="876046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0966" y="3906317"/>
            <a:ext cx="1656893" cy="13716"/>
            <a:chOff x="0" y="0"/>
            <a:chExt cx="2209190" cy="18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526487" y="3906317"/>
            <a:ext cx="3315157" cy="13716"/>
            <a:chOff x="0" y="0"/>
            <a:chExt cx="4420210" cy="18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834786" y="3906317"/>
            <a:ext cx="6628943" cy="13716"/>
            <a:chOff x="0" y="0"/>
            <a:chExt cx="8838590" cy="18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452756" y="3906317"/>
            <a:ext cx="4972050" cy="13716"/>
            <a:chOff x="0" y="0"/>
            <a:chExt cx="6629400" cy="18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0966" y="3910432"/>
            <a:ext cx="16545611" cy="685800"/>
            <a:chOff x="0" y="0"/>
            <a:chExt cx="22060814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060788" cy="914400"/>
            </a:xfrm>
            <a:custGeom>
              <a:avLst/>
              <a:gdLst/>
              <a:ahLst/>
              <a:cxnLst/>
              <a:rect r="r" b="b" t="t" l="l"/>
              <a:pathLst>
                <a:path h="914400" w="22060788">
                  <a:moveTo>
                    <a:pt x="0" y="0"/>
                  </a:moveTo>
                  <a:lnTo>
                    <a:pt x="22060788" y="0"/>
                  </a:lnTo>
                  <a:lnTo>
                    <a:pt x="22060788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0966" y="4582516"/>
            <a:ext cx="1656893" cy="13716"/>
            <a:chOff x="0" y="0"/>
            <a:chExt cx="2209190" cy="18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526487" y="4582516"/>
            <a:ext cx="3315157" cy="13716"/>
            <a:chOff x="0" y="0"/>
            <a:chExt cx="4420210" cy="18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834786" y="4582516"/>
            <a:ext cx="6628943" cy="13716"/>
            <a:chOff x="0" y="0"/>
            <a:chExt cx="8838590" cy="1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52756" y="4582516"/>
            <a:ext cx="4972050" cy="13716"/>
            <a:chOff x="0" y="0"/>
            <a:chExt cx="6629400" cy="18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0966" y="5265572"/>
            <a:ext cx="1656893" cy="13716"/>
            <a:chOff x="0" y="0"/>
            <a:chExt cx="2209190" cy="18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26487" y="5265572"/>
            <a:ext cx="3315157" cy="13716"/>
            <a:chOff x="0" y="0"/>
            <a:chExt cx="4420210" cy="18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834786" y="5265572"/>
            <a:ext cx="6628943" cy="13716"/>
            <a:chOff x="0" y="0"/>
            <a:chExt cx="8838590" cy="18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452756" y="5265572"/>
            <a:ext cx="4972050" cy="13716"/>
            <a:chOff x="0" y="0"/>
            <a:chExt cx="6629400" cy="18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57250" y="6227064"/>
            <a:ext cx="200254" cy="200254"/>
            <a:chOff x="0" y="0"/>
            <a:chExt cx="267005" cy="267005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266954" cy="266954"/>
            </a:xfrm>
            <a:custGeom>
              <a:avLst/>
              <a:gdLst/>
              <a:ahLst/>
              <a:cxnLst/>
              <a:rect r="r" b="b" t="t" l="l"/>
              <a:pathLst>
                <a:path h="266954" w="266954">
                  <a:moveTo>
                    <a:pt x="0" y="0"/>
                  </a:moveTo>
                  <a:lnTo>
                    <a:pt x="266954" y="0"/>
                  </a:lnTo>
                  <a:lnTo>
                    <a:pt x="266954" y="266954"/>
                  </a:lnTo>
                  <a:lnTo>
                    <a:pt x="0" y="266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9" b="-1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71346" y="6180430"/>
            <a:ext cx="8361274" cy="300380"/>
            <a:chOff x="0" y="0"/>
            <a:chExt cx="11148365" cy="40050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148364" cy="400508"/>
            </a:xfrm>
            <a:custGeom>
              <a:avLst/>
              <a:gdLst/>
              <a:ahLst/>
              <a:cxnLst/>
              <a:rect r="r" b="b" t="t" l="l"/>
              <a:pathLst>
                <a:path h="400508" w="11148364">
                  <a:moveTo>
                    <a:pt x="0" y="0"/>
                  </a:moveTo>
                  <a:lnTo>
                    <a:pt x="11148364" y="0"/>
                  </a:lnTo>
                  <a:lnTo>
                    <a:pt x="1114836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2377" r="0" b="-49237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1148365" cy="419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i="true">
                  <a:solidFill>
                    <a:srgbClr val="AAAAA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A team can have up to 4 members including the team leader. Add rows if necessary.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47725" y="6805955"/>
            <a:ext cx="16592093" cy="3062630"/>
            <a:chOff x="0" y="0"/>
            <a:chExt cx="22122790" cy="408350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122766" cy="4083431"/>
            </a:xfrm>
            <a:custGeom>
              <a:avLst/>
              <a:gdLst/>
              <a:ahLst/>
              <a:cxnLst/>
              <a:rect r="r" b="b" t="t" l="l"/>
              <a:pathLst>
                <a:path h="4083431" w="22122766">
                  <a:moveTo>
                    <a:pt x="0" y="103632"/>
                  </a:moveTo>
                  <a:cubicBezTo>
                    <a:pt x="0" y="46482"/>
                    <a:pt x="46482" y="0"/>
                    <a:pt x="103632" y="0"/>
                  </a:cubicBezTo>
                  <a:lnTo>
                    <a:pt x="22019133" y="0"/>
                  </a:lnTo>
                  <a:cubicBezTo>
                    <a:pt x="22076411" y="0"/>
                    <a:pt x="22122766" y="46482"/>
                    <a:pt x="22122766" y="103632"/>
                  </a:cubicBezTo>
                  <a:lnTo>
                    <a:pt x="22122766" y="3979799"/>
                  </a:lnTo>
                  <a:cubicBezTo>
                    <a:pt x="22122766" y="4037076"/>
                    <a:pt x="22076283" y="4083431"/>
                    <a:pt x="22019133" y="4083431"/>
                  </a:cubicBezTo>
                  <a:lnTo>
                    <a:pt x="103632" y="4083431"/>
                  </a:lnTo>
                  <a:cubicBezTo>
                    <a:pt x="46355" y="4083431"/>
                    <a:pt x="0" y="4036949"/>
                    <a:pt x="0" y="397979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148105" y="7563079"/>
            <a:ext cx="15992704" cy="676046"/>
            <a:chOff x="0" y="0"/>
            <a:chExt cx="21323605" cy="90139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323680" cy="901446"/>
            </a:xfrm>
            <a:custGeom>
              <a:avLst/>
              <a:gdLst/>
              <a:ahLst/>
              <a:cxnLst/>
              <a:rect r="r" b="b" t="t" l="l"/>
              <a:pathLst>
                <a:path h="901446" w="21323680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21078189" y="0"/>
                  </a:lnTo>
                  <a:cubicBezTo>
                    <a:pt x="21213699" y="0"/>
                    <a:pt x="21323680" y="109855"/>
                    <a:pt x="21323680" y="245491"/>
                  </a:cubicBezTo>
                  <a:lnTo>
                    <a:pt x="21323680" y="655955"/>
                  </a:lnTo>
                  <a:cubicBezTo>
                    <a:pt x="21323680" y="791464"/>
                    <a:pt x="21213826" y="901446"/>
                    <a:pt x="21078189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48105" y="8892159"/>
            <a:ext cx="7863230" cy="676046"/>
            <a:chOff x="0" y="0"/>
            <a:chExt cx="10484307" cy="9013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4358" cy="901446"/>
            </a:xfrm>
            <a:custGeom>
              <a:avLst/>
              <a:gdLst/>
              <a:ahLst/>
              <a:cxnLst/>
              <a:rect r="r" b="b" t="t" l="l"/>
              <a:pathLst>
                <a:path h="901446" w="10484358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10238867" y="0"/>
                  </a:lnTo>
                  <a:cubicBezTo>
                    <a:pt x="10374376" y="0"/>
                    <a:pt x="10484358" y="109855"/>
                    <a:pt x="10484358" y="245491"/>
                  </a:cubicBezTo>
                  <a:lnTo>
                    <a:pt x="10484358" y="655955"/>
                  </a:lnTo>
                  <a:cubicBezTo>
                    <a:pt x="10484358" y="791464"/>
                    <a:pt x="10374503" y="901446"/>
                    <a:pt x="10238867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277579" y="8892159"/>
            <a:ext cx="7863230" cy="676046"/>
            <a:chOff x="0" y="0"/>
            <a:chExt cx="10484307" cy="90139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484358" cy="901446"/>
            </a:xfrm>
            <a:custGeom>
              <a:avLst/>
              <a:gdLst/>
              <a:ahLst/>
              <a:cxnLst/>
              <a:rect r="r" b="b" t="t" l="l"/>
              <a:pathLst>
                <a:path h="901446" w="10484358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10238867" y="0"/>
                  </a:lnTo>
                  <a:cubicBezTo>
                    <a:pt x="10374376" y="0"/>
                    <a:pt x="10484358" y="109855"/>
                    <a:pt x="10484358" y="245491"/>
                  </a:cubicBezTo>
                  <a:lnTo>
                    <a:pt x="10484358" y="655955"/>
                  </a:lnTo>
                  <a:cubicBezTo>
                    <a:pt x="10484358" y="791464"/>
                    <a:pt x="10374503" y="901446"/>
                    <a:pt x="10238867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42543" y="1629461"/>
            <a:ext cx="3080614" cy="571957"/>
            <a:chOff x="0" y="0"/>
            <a:chExt cx="4107485" cy="762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07484" cy="762610"/>
            </a:xfrm>
            <a:custGeom>
              <a:avLst/>
              <a:gdLst/>
              <a:ahLst/>
              <a:cxnLst/>
              <a:rect r="r" b="b" t="t" l="l"/>
              <a:pathLst>
                <a:path h="762610" w="4107484">
                  <a:moveTo>
                    <a:pt x="0" y="0"/>
                  </a:moveTo>
                  <a:lnTo>
                    <a:pt x="4107484" y="0"/>
                  </a:lnTo>
                  <a:lnTo>
                    <a:pt x="4107484" y="762610"/>
                  </a:lnTo>
                  <a:lnTo>
                    <a:pt x="0" y="7626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948" r="0" b="-5494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107485" cy="78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Details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115343" y="1855775"/>
            <a:ext cx="1658264" cy="329184"/>
            <a:chOff x="0" y="0"/>
            <a:chExt cx="2211019" cy="4389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11020" cy="438912"/>
            </a:xfrm>
            <a:custGeom>
              <a:avLst/>
              <a:gdLst/>
              <a:ahLst/>
              <a:cxnLst/>
              <a:rect r="r" b="b" t="t" l="l"/>
              <a:pathLst>
                <a:path h="438912" w="2211020">
                  <a:moveTo>
                    <a:pt x="0" y="0"/>
                  </a:moveTo>
                  <a:lnTo>
                    <a:pt x="2211020" y="0"/>
                  </a:lnTo>
                  <a:lnTo>
                    <a:pt x="22110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8155" r="0" b="-4815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211019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Name: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57630" y="2754173"/>
            <a:ext cx="898398" cy="286664"/>
            <a:chOff x="0" y="0"/>
            <a:chExt cx="1197864" cy="3822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97864" cy="382220"/>
            </a:xfrm>
            <a:custGeom>
              <a:avLst/>
              <a:gdLst/>
              <a:ahLst/>
              <a:cxnLst/>
              <a:rect r="r" b="b" t="t" l="l"/>
              <a:pathLst>
                <a:path h="382220" w="1197864">
                  <a:moveTo>
                    <a:pt x="0" y="0"/>
                  </a:moveTo>
                  <a:lnTo>
                    <a:pt x="1197864" y="0"/>
                  </a:lnTo>
                  <a:lnTo>
                    <a:pt x="1197864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065" r="0" b="-1106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197864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SR. NO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811780" y="2754173"/>
            <a:ext cx="698144" cy="286664"/>
            <a:chOff x="0" y="0"/>
            <a:chExt cx="930859" cy="38221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30860" cy="382220"/>
            </a:xfrm>
            <a:custGeom>
              <a:avLst/>
              <a:gdLst/>
              <a:ahLst/>
              <a:cxnLst/>
              <a:rect r="r" b="b" t="t" l="l"/>
              <a:pathLst>
                <a:path h="382220" w="930860">
                  <a:moveTo>
                    <a:pt x="0" y="0"/>
                  </a:moveTo>
                  <a:lnTo>
                    <a:pt x="930860" y="0"/>
                  </a:lnTo>
                  <a:lnTo>
                    <a:pt x="9308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682" t="0" r="-268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930859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120079" y="2754173"/>
            <a:ext cx="798271" cy="286664"/>
            <a:chOff x="0" y="0"/>
            <a:chExt cx="1064362" cy="38221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4362" cy="382220"/>
            </a:xfrm>
            <a:custGeom>
              <a:avLst/>
              <a:gdLst/>
              <a:ahLst/>
              <a:cxnLst/>
              <a:rect r="r" b="b" t="t" l="l"/>
              <a:pathLst>
                <a:path h="382220" w="1064362">
                  <a:moveTo>
                    <a:pt x="0" y="0"/>
                  </a:moveTo>
                  <a:lnTo>
                    <a:pt x="1064362" y="0"/>
                  </a:lnTo>
                  <a:lnTo>
                    <a:pt x="1064362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259" r="0" b="-425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064362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NAME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738049" y="2754173"/>
            <a:ext cx="1969618" cy="286664"/>
            <a:chOff x="0" y="0"/>
            <a:chExt cx="2626157" cy="38221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626156" cy="382220"/>
            </a:xfrm>
            <a:custGeom>
              <a:avLst/>
              <a:gdLst/>
              <a:ahLst/>
              <a:cxnLst/>
              <a:rect r="r" b="b" t="t" l="l"/>
              <a:pathLst>
                <a:path h="382220" w="2626156">
                  <a:moveTo>
                    <a:pt x="0" y="0"/>
                  </a:moveTo>
                  <a:lnTo>
                    <a:pt x="2626156" y="0"/>
                  </a:lnTo>
                  <a:lnTo>
                    <a:pt x="2626156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877" r="0" b="-8387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2626157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ACADEMIC YEAR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57630" y="3405683"/>
            <a:ext cx="234544" cy="300380"/>
            <a:chOff x="0" y="0"/>
            <a:chExt cx="312725" cy="40050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2724" cy="400508"/>
            </a:xfrm>
            <a:custGeom>
              <a:avLst/>
              <a:gdLst/>
              <a:ahLst/>
              <a:cxnLst/>
              <a:rect r="r" b="b" t="t" l="l"/>
              <a:pathLst>
                <a:path h="400508" w="312724">
                  <a:moveTo>
                    <a:pt x="0" y="0"/>
                  </a:moveTo>
                  <a:lnTo>
                    <a:pt x="312724" y="0"/>
                  </a:lnTo>
                  <a:lnTo>
                    <a:pt x="3127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4318" t="0" r="-114319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3127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811780" y="3405683"/>
            <a:ext cx="1606144" cy="407327"/>
            <a:chOff x="0" y="0"/>
            <a:chExt cx="2141525" cy="54310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141524" cy="543104"/>
            </a:xfrm>
            <a:custGeom>
              <a:avLst/>
              <a:gdLst/>
              <a:ahLst/>
              <a:cxnLst/>
              <a:rect r="r" b="b" t="t" l="l"/>
              <a:pathLst>
                <a:path h="543104" w="2141524">
                  <a:moveTo>
                    <a:pt x="0" y="0"/>
                  </a:moveTo>
                  <a:lnTo>
                    <a:pt x="2141524" y="0"/>
                  </a:lnTo>
                  <a:lnTo>
                    <a:pt x="2141524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959" r="0" b="-1370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141525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57630" y="4088740"/>
            <a:ext cx="292151" cy="300380"/>
            <a:chOff x="0" y="0"/>
            <a:chExt cx="389534" cy="40050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9534" cy="400508"/>
            </a:xfrm>
            <a:custGeom>
              <a:avLst/>
              <a:gdLst/>
              <a:ahLst/>
              <a:cxnLst/>
              <a:rect r="r" b="b" t="t" l="l"/>
              <a:pathLst>
                <a:path h="400508" w="389534">
                  <a:moveTo>
                    <a:pt x="0" y="0"/>
                  </a:moveTo>
                  <a:lnTo>
                    <a:pt x="389534" y="0"/>
                  </a:lnTo>
                  <a:lnTo>
                    <a:pt x="38953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917" t="0" r="-81917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38953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2811780" y="4088740"/>
            <a:ext cx="1207008" cy="300380"/>
            <a:chOff x="0" y="0"/>
            <a:chExt cx="1609344" cy="40050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09344" cy="400508"/>
            </a:xfrm>
            <a:custGeom>
              <a:avLst/>
              <a:gdLst/>
              <a:ahLst/>
              <a:cxnLst/>
              <a:rect r="r" b="b" t="t" l="l"/>
              <a:pathLst>
                <a:path h="400508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8295" r="0" b="-2829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60934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Member 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57630" y="4771796"/>
            <a:ext cx="292151" cy="300380"/>
            <a:chOff x="0" y="0"/>
            <a:chExt cx="389534" cy="40050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9534" cy="400508"/>
            </a:xfrm>
            <a:custGeom>
              <a:avLst/>
              <a:gdLst/>
              <a:ahLst/>
              <a:cxnLst/>
              <a:rect r="r" b="b" t="t" l="l"/>
              <a:pathLst>
                <a:path h="400508" w="389534">
                  <a:moveTo>
                    <a:pt x="0" y="0"/>
                  </a:moveTo>
                  <a:lnTo>
                    <a:pt x="389534" y="0"/>
                  </a:lnTo>
                  <a:lnTo>
                    <a:pt x="38953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917" t="0" r="-81917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38953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811780" y="4771796"/>
            <a:ext cx="1263244" cy="300380"/>
            <a:chOff x="0" y="0"/>
            <a:chExt cx="1684325" cy="40050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684324" cy="400508"/>
            </a:xfrm>
            <a:custGeom>
              <a:avLst/>
              <a:gdLst/>
              <a:ahLst/>
              <a:cxnLst/>
              <a:rect r="r" b="b" t="t" l="l"/>
              <a:pathLst>
                <a:path h="400508" w="1684324">
                  <a:moveTo>
                    <a:pt x="0" y="0"/>
                  </a:moveTo>
                  <a:lnTo>
                    <a:pt x="1684324" y="0"/>
                  </a:lnTo>
                  <a:lnTo>
                    <a:pt x="16843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943" r="0" b="-3194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16843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Member 2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7630" y="7158380"/>
            <a:ext cx="242773" cy="229057"/>
            <a:chOff x="0" y="0"/>
            <a:chExt cx="323698" cy="305410"/>
          </a:xfrm>
        </p:grpSpPr>
        <p:sp>
          <p:nvSpPr>
            <p:cNvPr name="Freeform 106" id="106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824" t="0" r="2832" b="8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14246" y="7115861"/>
            <a:ext cx="2014880" cy="329184"/>
            <a:chOff x="0" y="0"/>
            <a:chExt cx="2686507" cy="4389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86508" cy="438912"/>
            </a:xfrm>
            <a:custGeom>
              <a:avLst/>
              <a:gdLst/>
              <a:ahLst/>
              <a:cxnLst/>
              <a:rect r="r" b="b" t="t" l="l"/>
              <a:pathLst>
                <a:path h="438912" w="2686508">
                  <a:moveTo>
                    <a:pt x="0" y="0"/>
                  </a:moveTo>
                  <a:lnTo>
                    <a:pt x="2686508" y="0"/>
                  </a:lnTo>
                  <a:lnTo>
                    <a:pt x="268650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9264" r="0" b="-6926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2686507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COLLEGE NAME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57630" y="8487461"/>
            <a:ext cx="242773" cy="229057"/>
            <a:chOff x="0" y="0"/>
            <a:chExt cx="323698" cy="305410"/>
          </a:xfrm>
        </p:grpSpPr>
        <p:sp>
          <p:nvSpPr>
            <p:cNvPr name="Freeform 111" id="111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2824" t="0" r="2832" b="8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514246" y="8443570"/>
            <a:ext cx="4158691" cy="329184"/>
            <a:chOff x="0" y="0"/>
            <a:chExt cx="5544922" cy="43891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544922" cy="438912"/>
            </a:xfrm>
            <a:custGeom>
              <a:avLst/>
              <a:gdLst/>
              <a:ahLst/>
              <a:cxnLst/>
              <a:rect r="r" b="b" t="t" l="l"/>
              <a:pathLst>
                <a:path h="438912" w="5544922">
                  <a:moveTo>
                    <a:pt x="0" y="0"/>
                  </a:moveTo>
                  <a:lnTo>
                    <a:pt x="5544922" y="0"/>
                  </a:lnTo>
                  <a:lnTo>
                    <a:pt x="554492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160" r="0" b="-19616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9050"/>
              <a:ext cx="554492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 CONTACT NUMBER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287104" y="8487461"/>
            <a:ext cx="242773" cy="229057"/>
            <a:chOff x="0" y="0"/>
            <a:chExt cx="323698" cy="305410"/>
          </a:xfrm>
        </p:grpSpPr>
        <p:sp>
          <p:nvSpPr>
            <p:cNvPr name="Freeform 116" id="116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2824" t="0" r="2832" b="8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43720" y="8443570"/>
            <a:ext cx="3771900" cy="329184"/>
            <a:chOff x="0" y="0"/>
            <a:chExt cx="5029200" cy="43891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0292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502920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 EMAIL ADDRESS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3983157" y="1846250"/>
            <a:ext cx="2579980" cy="373761"/>
            <a:chOff x="0" y="0"/>
            <a:chExt cx="3439973" cy="4983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439972" cy="498349"/>
            </a:xfrm>
            <a:custGeom>
              <a:avLst/>
              <a:gdLst/>
              <a:ahLst/>
              <a:cxnLst/>
              <a:rect r="r" b="b" t="t" l="l"/>
              <a:pathLst>
                <a:path h="498349" w="3439972">
                  <a:moveTo>
                    <a:pt x="0" y="0"/>
                  </a:moveTo>
                  <a:lnTo>
                    <a:pt x="3439972" y="0"/>
                  </a:lnTo>
                  <a:lnTo>
                    <a:pt x="3439972" y="498349"/>
                  </a:lnTo>
                  <a:lnTo>
                    <a:pt x="0" y="498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6151" r="0" b="-7284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3439973" cy="51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Team Solverz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6120079" y="3405683"/>
            <a:ext cx="1634947" cy="407327"/>
            <a:chOff x="0" y="0"/>
            <a:chExt cx="2179930" cy="54310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79930" cy="543104"/>
            </a:xfrm>
            <a:custGeom>
              <a:avLst/>
              <a:gdLst/>
              <a:ahLst/>
              <a:cxnLst/>
              <a:rect r="r" b="b" t="t" l="l"/>
              <a:pathLst>
                <a:path h="543104" w="2179930">
                  <a:moveTo>
                    <a:pt x="0" y="0"/>
                  </a:moveTo>
                  <a:lnTo>
                    <a:pt x="2179930" y="0"/>
                  </a:lnTo>
                  <a:lnTo>
                    <a:pt x="21799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337" r="0" b="-1508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21799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Ankan Mondal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738049" y="3405683"/>
            <a:ext cx="1463497" cy="407327"/>
            <a:chOff x="0" y="0"/>
            <a:chExt cx="1951330" cy="54310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4</a:t>
              </a: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</a:t>
              </a: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Year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6120079" y="4088740"/>
            <a:ext cx="1634947" cy="407327"/>
            <a:chOff x="0" y="0"/>
            <a:chExt cx="2179930" cy="54310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79930" cy="543104"/>
            </a:xfrm>
            <a:custGeom>
              <a:avLst/>
              <a:gdLst/>
              <a:ahLst/>
              <a:cxnLst/>
              <a:rect r="r" b="b" t="t" l="l"/>
              <a:pathLst>
                <a:path h="543104" w="2179930">
                  <a:moveTo>
                    <a:pt x="0" y="0"/>
                  </a:moveTo>
                  <a:lnTo>
                    <a:pt x="2179930" y="0"/>
                  </a:lnTo>
                  <a:lnTo>
                    <a:pt x="21799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337" r="0" b="-15081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21799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Shivam Garg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738049" y="4088740"/>
            <a:ext cx="1463497" cy="407327"/>
            <a:chOff x="0" y="0"/>
            <a:chExt cx="1951330" cy="54310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4</a:t>
              </a: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</a:t>
              </a: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Year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6120079" y="4727238"/>
            <a:ext cx="2113931" cy="407327"/>
            <a:chOff x="0" y="0"/>
            <a:chExt cx="2818575" cy="54310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818575" cy="543104"/>
            </a:xfrm>
            <a:custGeom>
              <a:avLst/>
              <a:gdLst/>
              <a:ahLst/>
              <a:cxnLst/>
              <a:rect r="r" b="b" t="t" l="l"/>
              <a:pathLst>
                <a:path h="543104" w="2818575">
                  <a:moveTo>
                    <a:pt x="0" y="0"/>
                  </a:moveTo>
                  <a:lnTo>
                    <a:pt x="2818575" y="0"/>
                  </a:lnTo>
                  <a:lnTo>
                    <a:pt x="2818575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337" r="22658" b="-1508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2818575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Saksham Tikariha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738049" y="4771796"/>
            <a:ext cx="1463497" cy="407327"/>
            <a:chOff x="0" y="0"/>
            <a:chExt cx="1951330" cy="543103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4</a:t>
              </a: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</a:t>
              </a: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Year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385316" y="7697876"/>
            <a:ext cx="4734763" cy="440893"/>
            <a:chOff x="0" y="0"/>
            <a:chExt cx="5779111" cy="538141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779111" cy="538141"/>
            </a:xfrm>
            <a:custGeom>
              <a:avLst/>
              <a:gdLst/>
              <a:ahLst/>
              <a:cxnLst/>
              <a:rect r="r" b="b" t="t" l="l"/>
              <a:pathLst>
                <a:path h="538141" w="5779111">
                  <a:moveTo>
                    <a:pt x="0" y="0"/>
                  </a:moveTo>
                  <a:lnTo>
                    <a:pt x="5779111" y="0"/>
                  </a:lnTo>
                  <a:lnTo>
                    <a:pt x="5779111" y="538141"/>
                  </a:lnTo>
                  <a:lnTo>
                    <a:pt x="0" y="53814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8208" r="28798" b="-89769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19050"/>
              <a:ext cx="5779111" cy="557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National Institute of Technology Raipur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85316" y="9010879"/>
            <a:ext cx="2301545" cy="440893"/>
            <a:chOff x="0" y="0"/>
            <a:chExt cx="3068726" cy="58785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068726" cy="587858"/>
            </a:xfrm>
            <a:custGeom>
              <a:avLst/>
              <a:gdLst/>
              <a:ahLst/>
              <a:cxnLst/>
              <a:rect r="r" b="b" t="t" l="l"/>
              <a:pathLst>
                <a:path h="587858" w="3068726">
                  <a:moveTo>
                    <a:pt x="0" y="0"/>
                  </a:moveTo>
                  <a:lnTo>
                    <a:pt x="3068726" y="0"/>
                  </a:lnTo>
                  <a:lnTo>
                    <a:pt x="3068726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4384" r="0" b="-39047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3068726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+91-9668130904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9497111" y="9009736"/>
            <a:ext cx="3953637" cy="440893"/>
            <a:chOff x="0" y="0"/>
            <a:chExt cx="5271516" cy="58785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271515" cy="587858"/>
            </a:xfrm>
            <a:custGeom>
              <a:avLst/>
              <a:gdLst/>
              <a:ahLst/>
              <a:cxnLst/>
              <a:rect r="r" b="b" t="t" l="l"/>
              <a:pathLst>
                <a:path h="587858" w="5271515">
                  <a:moveTo>
                    <a:pt x="0" y="0"/>
                  </a:moveTo>
                  <a:lnTo>
                    <a:pt x="5271515" y="0"/>
                  </a:lnTo>
                  <a:lnTo>
                    <a:pt x="5271515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721" r="28430" b="-62384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19050"/>
              <a:ext cx="5271516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ankanmondalclass1@gmail.com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843534" y="207112"/>
            <a:ext cx="16573043" cy="1286561"/>
            <a:chOff x="0" y="0"/>
            <a:chExt cx="22097390" cy="1715414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2257435" y="410566"/>
            <a:ext cx="13745232" cy="879653"/>
            <a:chOff x="0" y="0"/>
            <a:chExt cx="18326976" cy="117287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7757" y="1943557"/>
            <a:ext cx="8321497" cy="700888"/>
            <a:chOff x="0" y="0"/>
            <a:chExt cx="11095330" cy="9345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5330" cy="934516"/>
            </a:xfrm>
            <a:custGeom>
              <a:avLst/>
              <a:gdLst/>
              <a:ahLst/>
              <a:cxnLst/>
              <a:rect r="r" b="b" t="t" l="l"/>
              <a:pathLst>
                <a:path h="934516" w="11095330">
                  <a:moveTo>
                    <a:pt x="0" y="0"/>
                  </a:moveTo>
                  <a:lnTo>
                    <a:pt x="11095330" y="0"/>
                  </a:lnTo>
                  <a:lnTo>
                    <a:pt x="11095330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1342" r="0" b="-18134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095330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 Addressed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97421" y="3263570"/>
            <a:ext cx="14602482" cy="670865"/>
            <a:chOff x="0" y="0"/>
            <a:chExt cx="19469976" cy="8944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69976" cy="894487"/>
            </a:xfrm>
            <a:custGeom>
              <a:avLst/>
              <a:gdLst/>
              <a:ahLst/>
              <a:cxnLst/>
              <a:rect r="r" b="b" t="t" l="l"/>
              <a:pathLst>
                <a:path h="894487" w="19469976">
                  <a:moveTo>
                    <a:pt x="0" y="0"/>
                  </a:moveTo>
                  <a:lnTo>
                    <a:pt x="19469976" y="0"/>
                  </a:lnTo>
                  <a:lnTo>
                    <a:pt x="19469976" y="894487"/>
                  </a:lnTo>
                  <a:lnTo>
                    <a:pt x="0" y="8944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8319" r="35517" b="-20865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9469976" cy="923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Drift-</a:t>
              </a: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Sense: AI-Powered Navigation-Error Recovery for Wafer Inspection Tools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7757" y="4191610"/>
            <a:ext cx="15596387" cy="5066690"/>
            <a:chOff x="0" y="0"/>
            <a:chExt cx="20560995" cy="66795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560920" cy="6679377"/>
            </a:xfrm>
            <a:custGeom>
              <a:avLst/>
              <a:gdLst/>
              <a:ahLst/>
              <a:cxnLst/>
              <a:rect r="r" b="b" t="t" l="l"/>
              <a:pathLst>
                <a:path h="6679377" w="20560920">
                  <a:moveTo>
                    <a:pt x="0" y="285573"/>
                  </a:moveTo>
                  <a:cubicBezTo>
                    <a:pt x="0" y="127981"/>
                    <a:pt x="49403" y="0"/>
                    <a:pt x="110236" y="0"/>
                  </a:cubicBezTo>
                  <a:lnTo>
                    <a:pt x="20450683" y="0"/>
                  </a:lnTo>
                  <a:cubicBezTo>
                    <a:pt x="20511644" y="0"/>
                    <a:pt x="20560920" y="127981"/>
                    <a:pt x="20560920" y="285573"/>
                  </a:cubicBezTo>
                  <a:lnTo>
                    <a:pt x="20560920" y="6393804"/>
                  </a:lnTo>
                  <a:cubicBezTo>
                    <a:pt x="20560920" y="6551724"/>
                    <a:pt x="20511517" y="6679377"/>
                    <a:pt x="20450683" y="6679377"/>
                  </a:cubicBezTo>
                  <a:lnTo>
                    <a:pt x="110236" y="6679377"/>
                  </a:lnTo>
                  <a:cubicBezTo>
                    <a:pt x="49276" y="6679377"/>
                    <a:pt x="0" y="6551395"/>
                    <a:pt x="0" y="6393804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40213" y="4334485"/>
            <a:ext cx="4340726" cy="517549"/>
            <a:chOff x="0" y="0"/>
            <a:chExt cx="5787635" cy="6900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87636" cy="690066"/>
            </a:xfrm>
            <a:custGeom>
              <a:avLst/>
              <a:gdLst/>
              <a:ahLst/>
              <a:cxnLst/>
              <a:rect r="r" b="b" t="t" l="l"/>
              <a:pathLst>
                <a:path h="690066" w="5787636">
                  <a:moveTo>
                    <a:pt x="0" y="0"/>
                  </a:moveTo>
                  <a:lnTo>
                    <a:pt x="5787636" y="0"/>
                  </a:lnTo>
                  <a:lnTo>
                    <a:pt x="5787636" y="690066"/>
                  </a:lnTo>
                  <a:lnTo>
                    <a:pt x="0" y="6900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785" r="41574" b="-2317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787635" cy="70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</a:t>
              </a:r>
              <a:r>
                <a:rPr lang="en-US" sz="20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Navigation Errors Matter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21188" y="5071491"/>
            <a:ext cx="13452653" cy="835801"/>
            <a:chOff x="0" y="0"/>
            <a:chExt cx="17936870" cy="11144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936869" cy="1114400"/>
            </a:xfrm>
            <a:custGeom>
              <a:avLst/>
              <a:gdLst/>
              <a:ahLst/>
              <a:cxnLst/>
              <a:rect r="r" b="b" t="t" l="l"/>
              <a:pathLst>
                <a:path h="1114400" w="17936869">
                  <a:moveTo>
                    <a:pt x="0" y="0"/>
                  </a:moveTo>
                  <a:lnTo>
                    <a:pt x="17936869" y="0"/>
                  </a:lnTo>
                  <a:lnTo>
                    <a:pt x="17936869" y="1114400"/>
                  </a:lnTo>
                  <a:lnTo>
                    <a:pt x="0" y="11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8246" r="0" b="-2589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7936870" cy="1123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Wafer in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spection tools must repeatedly revisit the same relative location across thousands of repeated die patterns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Stage drift, vibration, and thermal effects cause the tool to land off-target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Resul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t: mis-navigated inspection → unreliable defect/metrology data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938249" y="342976"/>
            <a:ext cx="2411054" cy="1175385"/>
            <a:chOff x="0" y="0"/>
            <a:chExt cx="3214738" cy="15671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57250" y="399440"/>
            <a:ext cx="16573043" cy="1286561"/>
            <a:chOff x="0" y="0"/>
            <a:chExt cx="22097390" cy="171541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300173" y="625221"/>
            <a:ext cx="13745232" cy="879653"/>
            <a:chOff x="0" y="0"/>
            <a:chExt cx="18326976" cy="11728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621188" y="4783455"/>
            <a:ext cx="3333739" cy="440892"/>
            <a:chOff x="0" y="0"/>
            <a:chExt cx="4444985" cy="5878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44986" cy="587857"/>
            </a:xfrm>
            <a:custGeom>
              <a:avLst/>
              <a:gdLst/>
              <a:ahLst/>
              <a:cxnLst/>
              <a:rect r="r" b="b" t="t" l="l"/>
              <a:pathLst>
                <a:path h="587857" w="4444986">
                  <a:moveTo>
                    <a:pt x="0" y="0"/>
                  </a:moveTo>
                  <a:lnTo>
                    <a:pt x="4444986" y="0"/>
                  </a:lnTo>
                  <a:lnTo>
                    <a:pt x="4444986" y="587857"/>
                  </a:lnTo>
                  <a:lnTo>
                    <a:pt x="0" y="58785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571" r="23926" b="-4459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444985" cy="606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 Ch</a:t>
              </a: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allenge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21188" y="6322067"/>
            <a:ext cx="13452653" cy="1064401"/>
            <a:chOff x="0" y="0"/>
            <a:chExt cx="17936870" cy="141920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936869" cy="1419200"/>
            </a:xfrm>
            <a:custGeom>
              <a:avLst/>
              <a:gdLst/>
              <a:ahLst/>
              <a:cxnLst/>
              <a:rect r="r" b="b" t="t" l="l"/>
              <a:pathLst>
                <a:path h="1419200" w="17936869">
                  <a:moveTo>
                    <a:pt x="0" y="0"/>
                  </a:moveTo>
                  <a:lnTo>
                    <a:pt x="17936869" y="0"/>
                  </a:lnTo>
                  <a:lnTo>
                    <a:pt x="17936869" y="1419200"/>
                  </a:lnTo>
                  <a:lnTo>
                    <a:pt x="0" y="14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0635" r="0" b="-18189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7936870" cy="1428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Given 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 100x reference image (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exact prior target, high-res) and a 10x search image (wider current view, lower-res)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Locate the reference pattern inside the search image at ~10:1 scale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Return precise target-centre coordinates (x, y)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Resolve repea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ted-pattern ambiguity → pick match closest to search-image centre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21188" y="6014981"/>
            <a:ext cx="3333739" cy="440892"/>
            <a:chOff x="0" y="0"/>
            <a:chExt cx="4444985" cy="5878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44986" cy="587857"/>
            </a:xfrm>
            <a:custGeom>
              <a:avLst/>
              <a:gdLst/>
              <a:ahLst/>
              <a:cxnLst/>
              <a:rect r="r" b="b" t="t" l="l"/>
              <a:pathLst>
                <a:path h="587857" w="4444986">
                  <a:moveTo>
                    <a:pt x="0" y="0"/>
                  </a:moveTo>
                  <a:lnTo>
                    <a:pt x="4444986" y="0"/>
                  </a:lnTo>
                  <a:lnTo>
                    <a:pt x="4444986" y="587857"/>
                  </a:lnTo>
                  <a:lnTo>
                    <a:pt x="0" y="58785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571" r="23926" b="-4459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444985" cy="606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T</a:t>
              </a: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ask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21188" y="7773963"/>
            <a:ext cx="13452653" cy="1064401"/>
            <a:chOff x="0" y="0"/>
            <a:chExt cx="17936870" cy="141920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936869" cy="1419200"/>
            </a:xfrm>
            <a:custGeom>
              <a:avLst/>
              <a:gdLst/>
              <a:ahLst/>
              <a:cxnLst/>
              <a:rect r="r" b="b" t="t" l="l"/>
              <a:pathLst>
                <a:path h="1419200" w="17936869">
                  <a:moveTo>
                    <a:pt x="0" y="0"/>
                  </a:moveTo>
                  <a:lnTo>
                    <a:pt x="17936869" y="0"/>
                  </a:lnTo>
                  <a:lnTo>
                    <a:pt x="17936869" y="1419200"/>
                  </a:lnTo>
                  <a:lnTo>
                    <a:pt x="0" y="14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0635" r="0" b="-1818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7936870" cy="1428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Throughput: E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very mis-navigation event slows 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expensive, shared fab tools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Yield accuracy: Wrong location = unreliable defect detection → false alarms or missed defects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Pattern ambiguity is the hard part: Repetitive dies make naive matching lock onto the wrong (but identical-looking) site</a:t>
              </a:r>
            </a:p>
            <a:p>
              <a:pPr algn="l" marL="334647" indent="-167324" lvl="1">
                <a:lnSpc>
                  <a:spcPts val="1860"/>
                </a:lnSpc>
                <a:buFont typeface="Arial"/>
                <a:buChar char="•"/>
              </a:pP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Real-world robus</a:t>
              </a:r>
              <a:r>
                <a:rPr lang="en-US" sz="15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tness: Must survive noise, blur, scale (9:1–11:1) &amp; rotation (1–2°) — not just clean synthetic pairs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21188" y="7485927"/>
            <a:ext cx="3333739" cy="440892"/>
            <a:chOff x="0" y="0"/>
            <a:chExt cx="4444985" cy="58785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44986" cy="587857"/>
            </a:xfrm>
            <a:custGeom>
              <a:avLst/>
              <a:gdLst/>
              <a:ahLst/>
              <a:cxnLst/>
              <a:rect r="r" b="b" t="t" l="l"/>
              <a:pathLst>
                <a:path h="587857" w="4444986">
                  <a:moveTo>
                    <a:pt x="0" y="0"/>
                  </a:moveTo>
                  <a:lnTo>
                    <a:pt x="4444986" y="0"/>
                  </a:lnTo>
                  <a:lnTo>
                    <a:pt x="4444986" y="587857"/>
                  </a:lnTo>
                  <a:lnTo>
                    <a:pt x="0" y="58785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571" r="23926" b="-4459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444985" cy="606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</a:t>
              </a: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hy It'</a:t>
              </a:r>
              <a:r>
                <a:rPr lang="en-US" sz="17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 Significant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16024403" cy="891311"/>
            <a:chOff x="0" y="0"/>
            <a:chExt cx="21365870" cy="11884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65873" cy="1188414"/>
            </a:xfrm>
            <a:custGeom>
              <a:avLst/>
              <a:gdLst/>
              <a:ahLst/>
              <a:cxnLst/>
              <a:rect r="r" b="b" t="t" l="l"/>
              <a:pathLst>
                <a:path h="1188414" w="21365873">
                  <a:moveTo>
                    <a:pt x="0" y="0"/>
                  </a:moveTo>
                  <a:lnTo>
                    <a:pt x="21365873" y="0"/>
                  </a:lnTo>
                  <a:lnTo>
                    <a:pt x="21365873" y="1188414"/>
                  </a:lnTo>
                  <a:lnTo>
                    <a:pt x="0" y="118841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0993" r="0" b="-2896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365870" cy="1226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Description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86561" y="3588963"/>
            <a:ext cx="7508304" cy="5864001"/>
            <a:chOff x="0" y="0"/>
            <a:chExt cx="10011072" cy="78186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11124" cy="7818719"/>
            </a:xfrm>
            <a:custGeom>
              <a:avLst/>
              <a:gdLst/>
              <a:ahLst/>
              <a:cxnLst/>
              <a:rect r="r" b="b" t="t" l="l"/>
              <a:pathLst>
                <a:path h="7818719" w="10011124">
                  <a:moveTo>
                    <a:pt x="0" y="679737"/>
                  </a:moveTo>
                  <a:cubicBezTo>
                    <a:pt x="0" y="304050"/>
                    <a:pt x="34381" y="0"/>
                    <a:pt x="76862" y="0"/>
                  </a:cubicBezTo>
                  <a:lnTo>
                    <a:pt x="9934235" y="0"/>
                  </a:lnTo>
                  <a:cubicBezTo>
                    <a:pt x="9976654" y="0"/>
                    <a:pt x="10011124" y="304050"/>
                    <a:pt x="10011124" y="679737"/>
                  </a:cubicBezTo>
                  <a:lnTo>
                    <a:pt x="10011124" y="7139150"/>
                  </a:lnTo>
                  <a:cubicBezTo>
                    <a:pt x="10011124" y="7514291"/>
                    <a:pt x="9976716" y="7818719"/>
                    <a:pt x="9934235" y="7818719"/>
                  </a:cubicBezTo>
                  <a:lnTo>
                    <a:pt x="76862" y="7818719"/>
                  </a:lnTo>
                  <a:cubicBezTo>
                    <a:pt x="34381" y="7818719"/>
                    <a:pt x="0" y="7514291"/>
                    <a:pt x="0" y="7139150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89679" y="3801684"/>
            <a:ext cx="4120565" cy="594208"/>
            <a:chOff x="0" y="0"/>
            <a:chExt cx="5494086" cy="79227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94086" cy="792278"/>
            </a:xfrm>
            <a:custGeom>
              <a:avLst/>
              <a:gdLst/>
              <a:ahLst/>
              <a:cxnLst/>
              <a:rect r="r" b="b" t="t" l="l"/>
              <a:pathLst>
                <a:path h="792278" w="5494086">
                  <a:moveTo>
                    <a:pt x="0" y="0"/>
                  </a:moveTo>
                  <a:lnTo>
                    <a:pt x="5494086" y="0"/>
                  </a:lnTo>
                  <a:lnTo>
                    <a:pt x="5494086" y="792278"/>
                  </a:lnTo>
                  <a:lnTo>
                    <a:pt x="0" y="79227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4063" r="27335" b="-2230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494086" cy="8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KEY CONCEPT &amp; APPROACH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88218" y="4572182"/>
            <a:ext cx="7047840" cy="4394683"/>
            <a:chOff x="0" y="0"/>
            <a:chExt cx="9397120" cy="585957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397119" cy="5859577"/>
            </a:xfrm>
            <a:custGeom>
              <a:avLst/>
              <a:gdLst/>
              <a:ahLst/>
              <a:cxnLst/>
              <a:rect r="r" b="b" t="t" l="l"/>
              <a:pathLst>
                <a:path h="5859577" w="9397119">
                  <a:moveTo>
                    <a:pt x="0" y="0"/>
                  </a:moveTo>
                  <a:lnTo>
                    <a:pt x="9397119" y="0"/>
                  </a:lnTo>
                  <a:lnTo>
                    <a:pt x="9397119" y="5859577"/>
                  </a:lnTo>
                  <a:lnTo>
                    <a:pt x="0" y="58595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313" r="-63396" b="4519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9397120" cy="5964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8620" indent="-194310" lvl="1">
                <a:lnSpc>
                  <a:spcPts val="3078"/>
                </a:lnSpc>
                <a:buFont typeface="Arial"/>
                <a:buChar char="•"/>
              </a:pPr>
              <a:r>
                <a:rPr lang="en-US" sz="1800" i="true" spc="77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Recover the d</a:t>
              </a:r>
              <a:r>
                <a:rPr lang="en-US" sz="1800" i="true" spc="77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rifted navigation location via multi-scale </a:t>
              </a:r>
              <a:r>
                <a:rPr lang="en-US" b="true" sz="1800" i="true" spc="77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Normalized Cross-Correlation (NCC)</a:t>
              </a:r>
              <a:r>
                <a:rPr lang="en-US" sz="1800" i="true" spc="77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template matching</a:t>
              </a:r>
            </a:p>
            <a:p>
              <a:pPr algn="l" marL="388620" indent="-194310" lvl="1">
                <a:lnSpc>
                  <a:spcPts val="3078"/>
                </a:lnSpc>
                <a:buFont typeface="Arial"/>
                <a:buChar char="•"/>
              </a:pPr>
              <a:r>
                <a:rPr lang="en-US" sz="1800" i="true" spc="77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Treat the 10:1 magnification as unknown-but-bounded — search scales 9x–11x rather than assuming an exact ratio</a:t>
              </a:r>
            </a:p>
            <a:p>
              <a:pPr algn="l" marL="388620" indent="-194310" lvl="1">
                <a:lnSpc>
                  <a:spcPts val="3078"/>
                </a:lnSpc>
                <a:buFont typeface="Arial"/>
                <a:buChar char="•"/>
              </a:pPr>
              <a:r>
                <a:rPr lang="en-US" sz="1800" i="true" spc="77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Score every candidate location across all scales; retain all strong matches, not just the single best</a:t>
              </a:r>
            </a:p>
            <a:p>
              <a:pPr algn="l" marL="388620" indent="-194310" lvl="1">
                <a:lnSpc>
                  <a:spcPts val="3078"/>
                </a:lnSpc>
                <a:buFont typeface="Arial"/>
                <a:buChar char="•"/>
              </a:pPr>
              <a:r>
                <a:rPr lang="en-US" sz="1800" i="true" spc="77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Resolve repeated-pattern ambiguity by selecting the match closest to the search-image centre</a:t>
              </a:r>
            </a:p>
            <a:p>
              <a:pPr algn="l">
                <a:lnSpc>
                  <a:spcPts val="341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0" y="3588963"/>
            <a:ext cx="7972425" cy="5864001"/>
            <a:chOff x="0" y="0"/>
            <a:chExt cx="10629900" cy="78186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29952" cy="7818719"/>
            </a:xfrm>
            <a:custGeom>
              <a:avLst/>
              <a:gdLst/>
              <a:ahLst/>
              <a:cxnLst/>
              <a:rect r="r" b="b" t="t" l="l"/>
              <a:pathLst>
                <a:path h="7818719" w="10629952">
                  <a:moveTo>
                    <a:pt x="0" y="679737"/>
                  </a:moveTo>
                  <a:cubicBezTo>
                    <a:pt x="0" y="304050"/>
                    <a:pt x="36506" y="0"/>
                    <a:pt x="81613" y="0"/>
                  </a:cubicBezTo>
                  <a:lnTo>
                    <a:pt x="10548314" y="0"/>
                  </a:lnTo>
                  <a:cubicBezTo>
                    <a:pt x="10593355" y="0"/>
                    <a:pt x="10629952" y="304050"/>
                    <a:pt x="10629952" y="679737"/>
                  </a:cubicBezTo>
                  <a:lnTo>
                    <a:pt x="10629952" y="7139150"/>
                  </a:lnTo>
                  <a:cubicBezTo>
                    <a:pt x="10629952" y="7514291"/>
                    <a:pt x="10593421" y="7818719"/>
                    <a:pt x="10548314" y="7818719"/>
                  </a:cubicBezTo>
                  <a:lnTo>
                    <a:pt x="81613" y="7818719"/>
                  </a:lnTo>
                  <a:cubicBezTo>
                    <a:pt x="36506" y="7818719"/>
                    <a:pt x="0" y="7514291"/>
                    <a:pt x="0" y="7139150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516716" y="3801684"/>
            <a:ext cx="3164777" cy="594208"/>
            <a:chOff x="0" y="0"/>
            <a:chExt cx="4219702" cy="79227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19702" cy="792278"/>
            </a:xfrm>
            <a:custGeom>
              <a:avLst/>
              <a:gdLst/>
              <a:ahLst/>
              <a:cxnLst/>
              <a:rect r="r" b="b" t="t" l="l"/>
              <a:pathLst>
                <a:path h="792278" w="4219702">
                  <a:moveTo>
                    <a:pt x="0" y="0"/>
                  </a:moveTo>
                  <a:lnTo>
                    <a:pt x="4219702" y="0"/>
                  </a:lnTo>
                  <a:lnTo>
                    <a:pt x="4219702" y="792278"/>
                  </a:lnTo>
                  <a:lnTo>
                    <a:pt x="0" y="79227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024" r="26626" b="-2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219702" cy="8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SOLUTION OVERVIEW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98100" y="4376842"/>
            <a:ext cx="7476113" cy="5012131"/>
            <a:chOff x="0" y="0"/>
            <a:chExt cx="9968151" cy="66828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68150" cy="6682842"/>
            </a:xfrm>
            <a:custGeom>
              <a:avLst/>
              <a:gdLst/>
              <a:ahLst/>
              <a:cxnLst/>
              <a:rect r="r" b="b" t="t" l="l"/>
              <a:pathLst>
                <a:path h="6682842" w="9968150">
                  <a:moveTo>
                    <a:pt x="0" y="0"/>
                  </a:moveTo>
                  <a:lnTo>
                    <a:pt x="9968150" y="0"/>
                  </a:lnTo>
                  <a:lnTo>
                    <a:pt x="9968150" y="6682842"/>
                  </a:lnTo>
                  <a:lnTo>
                    <a:pt x="0" y="66828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038" r="-69704" b="4739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968151" cy="6730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 i="true" spc="77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Pre-processing</a:t>
              </a:r>
              <a:r>
                <a:rPr lang="en-US" sz="1800" i="true" spc="77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: Trim artificial crop-boundary pixels from the reference so edge brightening doesn't bias matching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 i="true" spc="77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Multi-scale search</a:t>
              </a:r>
              <a:r>
                <a:rPr lang="en-US" sz="1800" i="true" spc="77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: Downsample the reference at each candidate scale (step 0.2x) and run </a:t>
              </a:r>
              <a:r>
                <a:rPr lang="en-US" b="true" sz="1800" i="true" spc="77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cv2.matchTemplate </a:t>
              </a:r>
              <a:r>
                <a:rPr lang="en-US" sz="1800" i="true" spc="77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against the search image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 i="true" spc="77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Candidate extraction</a:t>
              </a:r>
              <a:r>
                <a:rPr lang="en-US" sz="1800" i="true" spc="77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: Use local-maxima filtering at each scale to surface every plausible location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 i="true" spc="77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Match selection</a:t>
              </a:r>
              <a:r>
                <a:rPr lang="en-US" sz="1800" i="true" spc="77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: Keep candidates within a score window (best − 5%) of the top NCC score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 i="true" spc="77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Disambiguation rule</a:t>
              </a:r>
              <a:r>
                <a:rPr lang="en-US" sz="1800" i="true" spc="77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: Among remaining valid matches, output the one whose centre is nearest the search-image centre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 i="true" spc="77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Output</a:t>
              </a:r>
              <a:r>
                <a:rPr lang="en-US" sz="1800" i="true" spc="77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: Predicted (x, y) target centre in search-image pixels, annotated visualization of all candidates, NCC confidence score, and measured runtime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938249" y="342976"/>
            <a:ext cx="2411054" cy="1175385"/>
            <a:chOff x="0" y="0"/>
            <a:chExt cx="3214738" cy="15671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57250" y="314401"/>
            <a:ext cx="16573043" cy="1286561"/>
            <a:chOff x="0" y="0"/>
            <a:chExt cx="22097390" cy="171541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2252062" y="494081"/>
            <a:ext cx="13745232" cy="879653"/>
            <a:chOff x="0" y="0"/>
            <a:chExt cx="18326976" cy="11728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756600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618183"/>
            <a:ext cx="15444216" cy="891311"/>
            <a:chOff x="0" y="0"/>
            <a:chExt cx="20592288" cy="11884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592289" cy="1188414"/>
            </a:xfrm>
            <a:custGeom>
              <a:avLst/>
              <a:gdLst/>
              <a:ahLst/>
              <a:cxnLst/>
              <a:rect r="r" b="b" t="t" l="l"/>
              <a:pathLst>
                <a:path h="1188414" w="20592289">
                  <a:moveTo>
                    <a:pt x="0" y="0"/>
                  </a:moveTo>
                  <a:lnTo>
                    <a:pt x="20592289" y="0"/>
                  </a:lnTo>
                  <a:lnTo>
                    <a:pt x="20592289" y="1188414"/>
                  </a:lnTo>
                  <a:lnTo>
                    <a:pt x="0" y="118841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8309" r="0" b="-2769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592288" cy="1226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Proposed Solution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2614270"/>
            <a:ext cx="16592093" cy="7257059"/>
            <a:chOff x="0" y="0"/>
            <a:chExt cx="22122790" cy="96760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675999"/>
            </a:xfrm>
            <a:custGeom>
              <a:avLst/>
              <a:gdLst/>
              <a:ahLst/>
              <a:cxnLst/>
              <a:rect r="r" b="b" t="t" l="l"/>
              <a:pathLst>
                <a:path h="9675999" w="22122764">
                  <a:moveTo>
                    <a:pt x="0" y="65003"/>
                  </a:moveTo>
                  <a:cubicBezTo>
                    <a:pt x="0" y="29070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9070"/>
                    <a:pt x="22122764" y="65003"/>
                  </a:cubicBezTo>
                  <a:lnTo>
                    <a:pt x="22122764" y="9610996"/>
                  </a:lnTo>
                  <a:cubicBezTo>
                    <a:pt x="22122764" y="9646929"/>
                    <a:pt x="22095333" y="9675999"/>
                    <a:pt x="22061424" y="9675999"/>
                  </a:cubicBezTo>
                  <a:lnTo>
                    <a:pt x="61341" y="9675999"/>
                  </a:lnTo>
                  <a:cubicBezTo>
                    <a:pt x="27432" y="9675999"/>
                    <a:pt x="0" y="9646929"/>
                    <a:pt x="0" y="9610996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76300" y="2628252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078325" y="2647074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76300" y="951936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078325" y="9509836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42543" y="2946006"/>
            <a:ext cx="15945307" cy="6554305"/>
            <a:chOff x="0" y="0"/>
            <a:chExt cx="21260410" cy="873907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60332" cy="8738901"/>
            </a:xfrm>
            <a:custGeom>
              <a:avLst/>
              <a:gdLst/>
              <a:ahLst/>
              <a:cxnLst/>
              <a:rect r="r" b="b" t="t" l="l"/>
              <a:pathLst>
                <a:path h="8738901" w="21260332">
                  <a:moveTo>
                    <a:pt x="0" y="373627"/>
                  </a:moveTo>
                  <a:cubicBezTo>
                    <a:pt x="0" y="167443"/>
                    <a:pt x="51084" y="0"/>
                    <a:pt x="113986" y="0"/>
                  </a:cubicBezTo>
                  <a:lnTo>
                    <a:pt x="21146345" y="0"/>
                  </a:lnTo>
                  <a:cubicBezTo>
                    <a:pt x="21209380" y="0"/>
                    <a:pt x="21260332" y="167443"/>
                    <a:pt x="21260332" y="373627"/>
                  </a:cubicBezTo>
                  <a:lnTo>
                    <a:pt x="21260332" y="8365275"/>
                  </a:lnTo>
                  <a:cubicBezTo>
                    <a:pt x="21260332" y="8571888"/>
                    <a:pt x="21209248" y="8738901"/>
                    <a:pt x="21146345" y="8738901"/>
                  </a:cubicBezTo>
                  <a:lnTo>
                    <a:pt x="113986" y="8738901"/>
                  </a:lnTo>
                  <a:cubicBezTo>
                    <a:pt x="50952" y="8738901"/>
                    <a:pt x="0" y="8571457"/>
                    <a:pt x="0" y="8365275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97483" y="2961170"/>
            <a:ext cx="3263137" cy="670865"/>
            <a:chOff x="0" y="0"/>
            <a:chExt cx="4350850" cy="8944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50850" cy="894487"/>
            </a:xfrm>
            <a:custGeom>
              <a:avLst/>
              <a:gdLst/>
              <a:ahLst/>
              <a:cxnLst/>
              <a:rect r="r" b="b" t="t" l="l"/>
              <a:pathLst>
                <a:path h="894487" w="4350850">
                  <a:moveTo>
                    <a:pt x="0" y="0"/>
                  </a:moveTo>
                  <a:lnTo>
                    <a:pt x="4350850" y="0"/>
                  </a:lnTo>
                  <a:lnTo>
                    <a:pt x="4350850" y="894487"/>
                  </a:lnTo>
                  <a:lnTo>
                    <a:pt x="0" y="89448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191" r="37160" b="1907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350850" cy="923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SOLUTION DETAILS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11638" y="3879685"/>
            <a:ext cx="7389027" cy="2283144"/>
            <a:chOff x="0" y="0"/>
            <a:chExt cx="9852035" cy="3044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852036" cy="3044191"/>
            </a:xfrm>
            <a:custGeom>
              <a:avLst/>
              <a:gdLst/>
              <a:ahLst/>
              <a:cxnLst/>
              <a:rect r="r" b="b" t="t" l="l"/>
              <a:pathLst>
                <a:path h="3044191" w="9852036">
                  <a:moveTo>
                    <a:pt x="0" y="0"/>
                  </a:moveTo>
                  <a:lnTo>
                    <a:pt x="9852036" y="0"/>
                  </a:lnTo>
                  <a:lnTo>
                    <a:pt x="9852036" y="3044191"/>
                  </a:lnTo>
                  <a:lnTo>
                    <a:pt x="0" y="30441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561" r="-82638" b="-317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9852035" cy="3072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Multi-scale </a:t>
              </a: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Normalized Cross-Correlation (NCC)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template matching to recover drifted navigation locations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Reference image pre-processed by </a:t>
              </a: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trimming 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crop-boundary pixels to remove artificial edge bias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Reference resampled across a </a:t>
              </a: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scale sweep (9x–11x, step 0.2x)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to explicitly account for magnification uncertainty rather than assuming an exact 10:1 ratio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Template matched against the search image at each scale using OpenCV's </a:t>
              </a: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TM_CCOEFF_NORMED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Local-maxima extraction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(not global max alone) surfaces every plausible candidate per scale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57250" y="214198"/>
            <a:ext cx="16573043" cy="1286561"/>
            <a:chOff x="0" y="0"/>
            <a:chExt cx="22097390" cy="171541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199827" y="415004"/>
            <a:ext cx="13745232" cy="879653"/>
            <a:chOff x="0" y="0"/>
            <a:chExt cx="18326976" cy="11728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4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11638" y="3536785"/>
            <a:ext cx="3333739" cy="421690"/>
            <a:chOff x="0" y="0"/>
            <a:chExt cx="4444985" cy="56225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44986" cy="562255"/>
            </a:xfrm>
            <a:custGeom>
              <a:avLst/>
              <a:gdLst/>
              <a:ahLst/>
              <a:cxnLst/>
              <a:rect r="r" b="b" t="t" l="l"/>
              <a:pathLst>
                <a:path h="562255" w="4444986">
                  <a:moveTo>
                    <a:pt x="0" y="0"/>
                  </a:moveTo>
                  <a:lnTo>
                    <a:pt x="4444986" y="0"/>
                  </a:lnTo>
                  <a:lnTo>
                    <a:pt x="4444986" y="562255"/>
                  </a:lnTo>
                  <a:lnTo>
                    <a:pt x="0" y="562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194" r="23926" b="-5117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444985" cy="590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thodology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13327" y="6353329"/>
            <a:ext cx="3333739" cy="421690"/>
            <a:chOff x="0" y="0"/>
            <a:chExt cx="4444985" cy="56225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44986" cy="562255"/>
            </a:xfrm>
            <a:custGeom>
              <a:avLst/>
              <a:gdLst/>
              <a:ahLst/>
              <a:cxnLst/>
              <a:rect r="r" b="b" t="t" l="l"/>
              <a:pathLst>
                <a:path h="562255" w="4444986">
                  <a:moveTo>
                    <a:pt x="0" y="0"/>
                  </a:moveTo>
                  <a:lnTo>
                    <a:pt x="4444986" y="0"/>
                  </a:lnTo>
                  <a:lnTo>
                    <a:pt x="4444986" y="562255"/>
                  </a:lnTo>
                  <a:lnTo>
                    <a:pt x="0" y="562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194" r="23926" b="-5117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4444985" cy="590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hnologies Involved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13327" y="6640374"/>
            <a:ext cx="7389027" cy="758495"/>
            <a:chOff x="0" y="0"/>
            <a:chExt cx="9852035" cy="101132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852036" cy="1011326"/>
            </a:xfrm>
            <a:custGeom>
              <a:avLst/>
              <a:gdLst/>
              <a:ahLst/>
              <a:cxnLst/>
              <a:rect r="r" b="b" t="t" l="l"/>
              <a:pathLst>
                <a:path h="1011326" w="9852036">
                  <a:moveTo>
                    <a:pt x="0" y="0"/>
                  </a:moveTo>
                  <a:lnTo>
                    <a:pt x="9852036" y="0"/>
                  </a:lnTo>
                  <a:lnTo>
                    <a:pt x="9852036" y="1011326"/>
                  </a:lnTo>
                  <a:lnTo>
                    <a:pt x="0" y="101132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6678" r="-82638" b="-29667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9852035" cy="10208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69879" indent="-134939" lvl="1">
                <a:lnSpc>
                  <a:spcPts val="1500"/>
                </a:lnSpc>
                <a:buFont typeface="Arial"/>
                <a:buChar char="•"/>
              </a:pP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Py</a:t>
              </a: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thon, OpenCV (cv2.matchTemplate, cv2.resize)</a:t>
              </a:r>
            </a:p>
            <a:p>
              <a:pPr algn="l" marL="269879" indent="-134939" lvl="1">
                <a:lnSpc>
                  <a:spcPts val="1500"/>
                </a:lnSpc>
                <a:buFont typeface="Arial"/>
                <a:buChar char="•"/>
              </a:pP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NumPy for array operations and scoring</a:t>
              </a:r>
            </a:p>
            <a:p>
              <a:pPr algn="l" marL="269879" indent="-134939" lvl="1">
                <a:lnSpc>
                  <a:spcPts val="1500"/>
                </a:lnSpc>
                <a:buFont typeface="Arial"/>
                <a:buChar char="•"/>
              </a:pP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S</a:t>
              </a: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ciPy (maximum_filter) for local peak/candidate detection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11638" y="6213634"/>
            <a:ext cx="4035005" cy="421690"/>
            <a:chOff x="0" y="0"/>
            <a:chExt cx="5380006" cy="56225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80007" cy="562255"/>
            </a:xfrm>
            <a:custGeom>
              <a:avLst/>
              <a:gdLst/>
              <a:ahLst/>
              <a:cxnLst/>
              <a:rect r="r" b="b" t="t" l="l"/>
              <a:pathLst>
                <a:path h="562255" w="5380007">
                  <a:moveTo>
                    <a:pt x="0" y="0"/>
                  </a:moveTo>
                  <a:lnTo>
                    <a:pt x="5380007" y="0"/>
                  </a:lnTo>
                  <a:lnTo>
                    <a:pt x="5380007" y="562255"/>
                  </a:lnTo>
                  <a:lnTo>
                    <a:pt x="0" y="562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194" r="37147" b="-5117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5380006" cy="590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Mat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 Selection &amp; Disambiguation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11638" y="6558419"/>
            <a:ext cx="7389027" cy="1187769"/>
            <a:chOff x="0" y="0"/>
            <a:chExt cx="9852035" cy="15836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852036" cy="1583691"/>
            </a:xfrm>
            <a:custGeom>
              <a:avLst/>
              <a:gdLst/>
              <a:ahLst/>
              <a:cxnLst/>
              <a:rect r="r" b="b" t="t" l="l"/>
              <a:pathLst>
                <a:path h="1583691" w="9852036">
                  <a:moveTo>
                    <a:pt x="0" y="0"/>
                  </a:moveTo>
                  <a:lnTo>
                    <a:pt x="9852036" y="0"/>
                  </a:lnTo>
                  <a:lnTo>
                    <a:pt x="9852036" y="1583691"/>
                  </a:lnTo>
                  <a:lnTo>
                    <a:pt x="0" y="15836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455" r="-82638" b="-15331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9852035" cy="1612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Candidates within a score window </a:t>
              </a: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(best NCC − 5%) 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are retained as valid matches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Spatially duplicate detections across nearby scales are collapsed to one per true location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Final prediction = valid match whose centre is closest to the search-image centre (handles repeated-pattern ambiguity)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11638" y="7793813"/>
            <a:ext cx="4035005" cy="421690"/>
            <a:chOff x="0" y="0"/>
            <a:chExt cx="5380006" cy="56225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80007" cy="562255"/>
            </a:xfrm>
            <a:custGeom>
              <a:avLst/>
              <a:gdLst/>
              <a:ahLst/>
              <a:cxnLst/>
              <a:rect r="r" b="b" t="t" l="l"/>
              <a:pathLst>
                <a:path h="562255" w="5380007">
                  <a:moveTo>
                    <a:pt x="0" y="0"/>
                  </a:moveTo>
                  <a:lnTo>
                    <a:pt x="5380007" y="0"/>
                  </a:lnTo>
                  <a:lnTo>
                    <a:pt x="5380007" y="562255"/>
                  </a:lnTo>
                  <a:lnTo>
                    <a:pt x="0" y="562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194" r="37147" b="-511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5380006" cy="590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lementation Strategy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11638" y="8195539"/>
            <a:ext cx="7389027" cy="968694"/>
            <a:chOff x="0" y="0"/>
            <a:chExt cx="9852035" cy="1291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852036" cy="1291591"/>
            </a:xfrm>
            <a:custGeom>
              <a:avLst/>
              <a:gdLst/>
              <a:ahLst/>
              <a:cxnLst/>
              <a:rect r="r" b="b" t="t" l="l"/>
              <a:pathLst>
                <a:path h="1291591" w="9852036">
                  <a:moveTo>
                    <a:pt x="0" y="0"/>
                  </a:moveTo>
                  <a:lnTo>
                    <a:pt x="9852036" y="0"/>
                  </a:lnTo>
                  <a:lnTo>
                    <a:pt x="9852036" y="1291591"/>
                  </a:lnTo>
                  <a:lnTo>
                    <a:pt x="0" y="12915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301" r="-82638" b="-21060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9852035" cy="1320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Output: predicted (x, y) target centre, NCC confidence score, annotated visualization, and measured runtime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Explicit scale-aware matching directly satisfies the 10:1 magnification requirement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Runs repeatably on batches of reference/search pairs without manual code changes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13327" y="3536785"/>
            <a:ext cx="3333739" cy="421690"/>
            <a:chOff x="0" y="0"/>
            <a:chExt cx="4444985" cy="56225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444986" cy="562255"/>
            </a:xfrm>
            <a:custGeom>
              <a:avLst/>
              <a:gdLst/>
              <a:ahLst/>
              <a:cxnLst/>
              <a:rect r="r" b="b" t="t" l="l"/>
              <a:pathLst>
                <a:path h="562255" w="4444986">
                  <a:moveTo>
                    <a:pt x="0" y="0"/>
                  </a:moveTo>
                  <a:lnTo>
                    <a:pt x="4444986" y="0"/>
                  </a:lnTo>
                  <a:lnTo>
                    <a:pt x="4444986" y="562255"/>
                  </a:lnTo>
                  <a:lnTo>
                    <a:pt x="0" y="562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194" r="23926" b="-5117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4444985" cy="590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ea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listic Defects Simulated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13327" y="3879685"/>
            <a:ext cx="7088646" cy="2283144"/>
            <a:chOff x="0" y="0"/>
            <a:chExt cx="9451528" cy="30441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451529" cy="3044191"/>
            </a:xfrm>
            <a:custGeom>
              <a:avLst/>
              <a:gdLst/>
              <a:ahLst/>
              <a:cxnLst/>
              <a:rect r="r" b="b" t="t" l="l"/>
              <a:pathLst>
                <a:path h="3044191" w="9451529">
                  <a:moveTo>
                    <a:pt x="0" y="0"/>
                  </a:moveTo>
                  <a:lnTo>
                    <a:pt x="9451529" y="0"/>
                  </a:lnTo>
                  <a:lnTo>
                    <a:pt x="9451529" y="3044191"/>
                  </a:lnTo>
                  <a:lnTo>
                    <a:pt x="0" y="30441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561" r="-90377" b="-3178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9451528" cy="3072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Blur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— spot-size/astigmatism-like defocus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Angle tilt (±0.05–2°)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— stage/wafer misalignment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Repetition increase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— duplicated/mirrored patches modelling die-pattern ambiguity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Edge stress 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— charging/edge brightness gradients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Scale mismatch (9x–11x) 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— real magnification drift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Black/white tint 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— contrast/gamma drift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Scanline noise &amp; line dropouts 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— raster-scan acquisition artifacts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Brightness drift 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— thermal/detector drift over a scan</a:t>
              </a:r>
            </a:p>
            <a:p>
              <a:pPr algn="l" marL="269879" indent="-134939" lvl="1">
                <a:lnSpc>
                  <a:spcPts val="172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Each defect is physically motivated, </a:t>
              </a:r>
              <a:r>
                <a:rPr lang="en-US" b="true" sz="1250" i="true" strike="noStrike" u="non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randomized</a:t>
              </a:r>
              <a:r>
                <a:rPr lang="en-US" sz="1250" i="true" strike="noStrike" u="non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per sample, and can be composed with others; seed and parameters logged per pair for reproducibility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13327" y="7563004"/>
            <a:ext cx="3333739" cy="421690"/>
            <a:chOff x="0" y="0"/>
            <a:chExt cx="4444985" cy="56225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444986" cy="562255"/>
            </a:xfrm>
            <a:custGeom>
              <a:avLst/>
              <a:gdLst/>
              <a:ahLst/>
              <a:cxnLst/>
              <a:rect r="r" b="b" t="t" l="l"/>
              <a:pathLst>
                <a:path h="562255" w="4444986">
                  <a:moveTo>
                    <a:pt x="0" y="0"/>
                  </a:moveTo>
                  <a:lnTo>
                    <a:pt x="4444986" y="0"/>
                  </a:lnTo>
                  <a:lnTo>
                    <a:pt x="4444986" y="562255"/>
                  </a:lnTo>
                  <a:lnTo>
                    <a:pt x="0" y="562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194" r="23926" b="-5117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4444985" cy="590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listic Defects Simulated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13327" y="7905904"/>
            <a:ext cx="7088646" cy="1187769"/>
            <a:chOff x="0" y="0"/>
            <a:chExt cx="9451528" cy="15836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451529" cy="1583691"/>
            </a:xfrm>
            <a:custGeom>
              <a:avLst/>
              <a:gdLst/>
              <a:ahLst/>
              <a:cxnLst/>
              <a:rect r="r" b="b" t="t" l="l"/>
              <a:pathLst>
                <a:path h="1583691" w="9451529">
                  <a:moveTo>
                    <a:pt x="0" y="0"/>
                  </a:moveTo>
                  <a:lnTo>
                    <a:pt x="9451529" y="0"/>
                  </a:lnTo>
                  <a:lnTo>
                    <a:pt x="9451529" y="1583691"/>
                  </a:lnTo>
                  <a:lnTo>
                    <a:pt x="0" y="15836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455" r="-90377" b="-15331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9451528" cy="1612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69879" indent="-134939" lvl="1">
                <a:lnSpc>
                  <a:spcPts val="1725"/>
                </a:lnSpc>
                <a:buFont typeface="Arial"/>
                <a:buChar char="•"/>
              </a:pP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</a:t>
              </a: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olve</a:t>
              </a: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 </a:t>
              </a: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cross-magnification</a:t>
              </a: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localization under s</a:t>
              </a: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cale </a:t>
              </a: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(9:1–11:1) and rotation (1–2°) variation</a:t>
              </a:r>
            </a:p>
            <a:p>
              <a:pPr algn="l" marL="269879" indent="-134939" lvl="1">
                <a:lnSpc>
                  <a:spcPts val="1725"/>
                </a:lnSpc>
                <a:buFont typeface="Arial"/>
                <a:buChar char="•"/>
              </a:pP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Robust to SEM-style degradation</a:t>
              </a: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via score-window tolerance and defect-hardened training data</a:t>
              </a:r>
            </a:p>
            <a:p>
              <a:pPr algn="l" marL="269879" indent="-134939" lvl="1">
                <a:lnSpc>
                  <a:spcPts val="1725"/>
                </a:lnSpc>
                <a:buFont typeface="Arial"/>
                <a:buChar char="•"/>
              </a:pPr>
              <a:r>
                <a:rPr lang="en-US" b="true" sz="12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Resolves repeated die-pattern </a:t>
              </a:r>
              <a:r>
                <a:rPr lang="en-US" sz="12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ambiguity using the centre-proximity tie-break rule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7711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714957"/>
            <a:ext cx="7479335" cy="700888"/>
            <a:chOff x="0" y="0"/>
            <a:chExt cx="9972446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72446" cy="934516"/>
            </a:xfrm>
            <a:custGeom>
              <a:avLst/>
              <a:gdLst/>
              <a:ahLst/>
              <a:cxnLst/>
              <a:rect r="r" b="b" t="t" l="l"/>
              <a:pathLst>
                <a:path h="934516" w="9972446">
                  <a:moveTo>
                    <a:pt x="0" y="0"/>
                  </a:moveTo>
                  <a:lnTo>
                    <a:pt x="9972446" y="0"/>
                  </a:lnTo>
                  <a:lnTo>
                    <a:pt x="9972446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929" r="0" b="-1579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972446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Innovation and Uniqueness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2644445"/>
            <a:ext cx="16592093" cy="7459623"/>
            <a:chOff x="0" y="0"/>
            <a:chExt cx="22122790" cy="99461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946082"/>
            </a:xfrm>
            <a:custGeom>
              <a:avLst/>
              <a:gdLst/>
              <a:ahLst/>
              <a:cxnLst/>
              <a:rect r="r" b="b" t="t" l="l"/>
              <a:pathLst>
                <a:path h="9946082" w="22122764">
                  <a:moveTo>
                    <a:pt x="0" y="66817"/>
                  </a:moveTo>
                  <a:cubicBezTo>
                    <a:pt x="0" y="29881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9881"/>
                    <a:pt x="22122764" y="66817"/>
                  </a:cubicBezTo>
                  <a:lnTo>
                    <a:pt x="22122764" y="9879264"/>
                  </a:lnTo>
                  <a:cubicBezTo>
                    <a:pt x="22122764" y="9916200"/>
                    <a:pt x="22095333" y="9946082"/>
                    <a:pt x="22061424" y="9946082"/>
                  </a:cubicBezTo>
                  <a:lnTo>
                    <a:pt x="61341" y="9946082"/>
                  </a:lnTo>
                  <a:cubicBezTo>
                    <a:pt x="27432" y="9946082"/>
                    <a:pt x="0" y="9916200"/>
                    <a:pt x="0" y="9879264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2634920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634920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748089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748089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767485" y="342976"/>
            <a:ext cx="2411054" cy="1175385"/>
            <a:chOff x="0" y="0"/>
            <a:chExt cx="3214738" cy="15671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57250" y="387096"/>
            <a:ext cx="16573043" cy="1286561"/>
            <a:chOff x="0" y="0"/>
            <a:chExt cx="22097390" cy="171541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236394" y="590550"/>
            <a:ext cx="13745232" cy="879653"/>
            <a:chOff x="0" y="0"/>
            <a:chExt cx="18326976" cy="11728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86561" y="2977363"/>
            <a:ext cx="7508304" cy="6770726"/>
            <a:chOff x="0" y="0"/>
            <a:chExt cx="10011072" cy="902763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11124" cy="9027685"/>
            </a:xfrm>
            <a:custGeom>
              <a:avLst/>
              <a:gdLst/>
              <a:ahLst/>
              <a:cxnLst/>
              <a:rect r="r" b="b" t="t" l="l"/>
              <a:pathLst>
                <a:path h="9027685" w="10011124">
                  <a:moveTo>
                    <a:pt x="0" y="784842"/>
                  </a:moveTo>
                  <a:cubicBezTo>
                    <a:pt x="0" y="351063"/>
                    <a:pt x="34381" y="0"/>
                    <a:pt x="76862" y="0"/>
                  </a:cubicBezTo>
                  <a:lnTo>
                    <a:pt x="9934235" y="0"/>
                  </a:lnTo>
                  <a:cubicBezTo>
                    <a:pt x="9976654" y="0"/>
                    <a:pt x="10011124" y="351063"/>
                    <a:pt x="10011124" y="784842"/>
                  </a:cubicBezTo>
                  <a:lnTo>
                    <a:pt x="10011124" y="8243046"/>
                  </a:lnTo>
                  <a:cubicBezTo>
                    <a:pt x="10011124" y="8676193"/>
                    <a:pt x="9976716" y="9027685"/>
                    <a:pt x="9934235" y="9027685"/>
                  </a:cubicBezTo>
                  <a:lnTo>
                    <a:pt x="76862" y="9027685"/>
                  </a:lnTo>
                  <a:cubicBezTo>
                    <a:pt x="34381" y="9027685"/>
                    <a:pt x="0" y="8676193"/>
                    <a:pt x="0" y="8243046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0" y="2977363"/>
            <a:ext cx="7972425" cy="6770726"/>
            <a:chOff x="0" y="0"/>
            <a:chExt cx="10629900" cy="902763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29952" cy="9027685"/>
            </a:xfrm>
            <a:custGeom>
              <a:avLst/>
              <a:gdLst/>
              <a:ahLst/>
              <a:cxnLst/>
              <a:rect r="r" b="b" t="t" l="l"/>
              <a:pathLst>
                <a:path h="9027685" w="10629952">
                  <a:moveTo>
                    <a:pt x="0" y="784842"/>
                  </a:moveTo>
                  <a:cubicBezTo>
                    <a:pt x="0" y="351063"/>
                    <a:pt x="36506" y="0"/>
                    <a:pt x="81613" y="0"/>
                  </a:cubicBezTo>
                  <a:lnTo>
                    <a:pt x="10548314" y="0"/>
                  </a:lnTo>
                  <a:cubicBezTo>
                    <a:pt x="10593355" y="0"/>
                    <a:pt x="10629952" y="351063"/>
                    <a:pt x="10629952" y="784842"/>
                  </a:cubicBezTo>
                  <a:lnTo>
                    <a:pt x="10629952" y="8243046"/>
                  </a:lnTo>
                  <a:cubicBezTo>
                    <a:pt x="10629952" y="8676193"/>
                    <a:pt x="10593421" y="9027685"/>
                    <a:pt x="10548314" y="9027685"/>
                  </a:cubicBezTo>
                  <a:lnTo>
                    <a:pt x="81613" y="9027685"/>
                  </a:lnTo>
                  <a:cubicBezTo>
                    <a:pt x="36506" y="9027685"/>
                    <a:pt x="0" y="8676193"/>
                    <a:pt x="0" y="8243046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43379" y="2976210"/>
            <a:ext cx="3263137" cy="670865"/>
            <a:chOff x="0" y="0"/>
            <a:chExt cx="4350850" cy="89448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50850" cy="894487"/>
            </a:xfrm>
            <a:custGeom>
              <a:avLst/>
              <a:gdLst/>
              <a:ahLst/>
              <a:cxnLst/>
              <a:rect r="r" b="b" t="t" l="l"/>
              <a:pathLst>
                <a:path h="894487" w="4350850">
                  <a:moveTo>
                    <a:pt x="0" y="0"/>
                  </a:moveTo>
                  <a:lnTo>
                    <a:pt x="4350850" y="0"/>
                  </a:lnTo>
                  <a:lnTo>
                    <a:pt x="4350850" y="894487"/>
                  </a:lnTo>
                  <a:lnTo>
                    <a:pt x="0" y="89448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191" r="37160" b="1907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350850" cy="923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KEY INN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VA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28275" y="2976210"/>
            <a:ext cx="4521492" cy="670865"/>
            <a:chOff x="0" y="0"/>
            <a:chExt cx="6028656" cy="89448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28656" cy="894487"/>
            </a:xfrm>
            <a:custGeom>
              <a:avLst/>
              <a:gdLst/>
              <a:ahLst/>
              <a:cxnLst/>
              <a:rect r="r" b="b" t="t" l="l"/>
              <a:pathLst>
                <a:path h="894487" w="6028656">
                  <a:moveTo>
                    <a:pt x="0" y="0"/>
                  </a:moveTo>
                  <a:lnTo>
                    <a:pt x="6028656" y="0"/>
                  </a:lnTo>
                  <a:lnTo>
                    <a:pt x="6028656" y="894487"/>
                  </a:lnTo>
                  <a:lnTo>
                    <a:pt x="0" y="89448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191" r="54648" b="190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028656" cy="923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MPETI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TI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VE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VAN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TA</a:t>
              </a:r>
              <a:r>
                <a:rPr lang="en-US" sz="2700" strike="noStrike" u="none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GE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9672" y="4132850"/>
            <a:ext cx="7275506" cy="5395367"/>
            <a:chOff x="0" y="0"/>
            <a:chExt cx="9700674" cy="719382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00675" cy="7193822"/>
            </a:xfrm>
            <a:custGeom>
              <a:avLst/>
              <a:gdLst/>
              <a:ahLst/>
              <a:cxnLst/>
              <a:rect r="r" b="b" t="t" l="l"/>
              <a:pathLst>
                <a:path h="7193822" w="9700675">
                  <a:moveTo>
                    <a:pt x="0" y="0"/>
                  </a:moveTo>
                  <a:lnTo>
                    <a:pt x="9700675" y="0"/>
                  </a:lnTo>
                  <a:lnTo>
                    <a:pt x="9700675" y="7193822"/>
                  </a:lnTo>
                  <a:lnTo>
                    <a:pt x="0" y="71938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2768" r="-74383" b="5112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9700674" cy="7279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5441" indent="-172721" lvl="1">
                <a:lnSpc>
                  <a:spcPts val="2656"/>
                </a:lnSpc>
                <a:buFont typeface="Arial"/>
                <a:buChar char="•"/>
              </a:pPr>
              <a:r>
                <a:rPr lang="en-US" b="true" sz="1600" spc="6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Physics-inspired synthetic DRAM envi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ronment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Generat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inuous,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rarchical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DRAM layouts with correlated pitches,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m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ultiple b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nk topolo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ies, routi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nterse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ction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nd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repe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ted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tructur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 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 simple til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ed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patte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ns.  </a:t>
              </a:r>
            </a:p>
            <a:p>
              <a:pPr algn="l" marL="345441" indent="-172721" lvl="1">
                <a:lnSpc>
                  <a:spcPts val="2656"/>
                </a:lnSpc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Explicit 10:1 sc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 reasoni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ng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Th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 1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00×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refere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ce is systematically c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nver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ed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to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x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pect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ed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10× se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rch-image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cale, while evaluating 9×–11× candidate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to tolerate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agnifica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tion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uncertainty.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l" marL="345441" indent="-172721" lvl="1">
                <a:lnSpc>
                  <a:spcPts val="2656"/>
                </a:lnSpc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Multi-can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didate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lo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calizat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ion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Instead of blind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ly accepti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ng the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ngle high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 correlation,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the 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ystem retains 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atially distinct high-confid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 candidate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and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solves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peated-patt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ambigui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 using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he pr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blem's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entre-sele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 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le.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l" marL="345441" indent="-172721" lvl="1">
                <a:lnSpc>
                  <a:spcPts val="2656"/>
                </a:lnSpc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ep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rodu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ble degrada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ion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f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ramew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</a:t>
              </a: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Nois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blur,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scale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mismatch, brightness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if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t, scanlin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tifa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cts, lin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 dropou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 o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deg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adat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ion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 be systematically introduced while retaining ground-truth metadata.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52904" y="3484483"/>
            <a:ext cx="7284188" cy="678865"/>
            <a:chOff x="0" y="0"/>
            <a:chExt cx="9712250" cy="90515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12251" cy="905155"/>
            </a:xfrm>
            <a:custGeom>
              <a:avLst/>
              <a:gdLst/>
              <a:ahLst/>
              <a:cxnLst/>
              <a:rect r="r" b="b" t="t" l="l"/>
              <a:pathLst>
                <a:path h="905155" w="9712251">
                  <a:moveTo>
                    <a:pt x="0" y="0"/>
                  </a:moveTo>
                  <a:lnTo>
                    <a:pt x="9712251" y="0"/>
                  </a:lnTo>
                  <a:lnTo>
                    <a:pt x="9712251" y="905155"/>
                  </a:lnTo>
                  <a:lnTo>
                    <a:pt x="0" y="9051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678" r="65183" b="609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9712250" cy="933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Scale-Aware DRA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 Navigation Recovery wi</a:t>
              </a: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 Ambiguity-Aware Matching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60864" y="3484483"/>
            <a:ext cx="7284188" cy="421690"/>
            <a:chOff x="0" y="0"/>
            <a:chExt cx="9712250" cy="56225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12251" cy="562255"/>
            </a:xfrm>
            <a:custGeom>
              <a:avLst/>
              <a:gdLst/>
              <a:ahLst/>
              <a:cxnLst/>
              <a:rect r="r" b="b" t="t" l="l"/>
              <a:pathLst>
                <a:path h="562255" w="9712251">
                  <a:moveTo>
                    <a:pt x="0" y="0"/>
                  </a:moveTo>
                  <a:lnTo>
                    <a:pt x="9712251" y="0"/>
                  </a:lnTo>
                  <a:lnTo>
                    <a:pt x="9712251" y="562255"/>
                  </a:lnTo>
                  <a:lnTo>
                    <a:pt x="0" y="562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194" r="65183" b="-511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9712250" cy="590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Accuracy-focused without unnecessary model complexity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60864" y="3896649"/>
            <a:ext cx="7641490" cy="5728742"/>
            <a:chOff x="0" y="0"/>
            <a:chExt cx="10188653" cy="763832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88653" cy="7638322"/>
            </a:xfrm>
            <a:custGeom>
              <a:avLst/>
              <a:gdLst/>
              <a:ahLst/>
              <a:cxnLst/>
              <a:rect r="r" b="b" t="t" l="l"/>
              <a:pathLst>
                <a:path h="7638322" w="10188653">
                  <a:moveTo>
                    <a:pt x="0" y="0"/>
                  </a:moveTo>
                  <a:lnTo>
                    <a:pt x="10188653" y="0"/>
                  </a:lnTo>
                  <a:lnTo>
                    <a:pt x="10188653" y="7638322"/>
                  </a:lnTo>
                  <a:lnTo>
                    <a:pt x="0" y="76383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279" r="-66031" b="5397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10188653" cy="7724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5441" indent="-172721" lvl="1">
                <a:lnSpc>
                  <a:spcPts val="26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training dependency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Uses classical computer vision with normalized cross-correlation, making the localization pipeline deterministic and avoiding dependence on pretrained neural-network weights. </a:t>
              </a:r>
            </a:p>
            <a:p>
              <a:pPr algn="l" marL="345441" indent="-172721" lvl="1">
                <a:lnSpc>
                  <a:spcPts val="26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Robust to scale uncertainty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Searches across 9×–11× rather than assuming an exact 10× relationship, directly addressing a stated evaluation condition. </a:t>
              </a:r>
            </a:p>
            <a:p>
              <a:pPr algn="l" marL="345441" indent="-172721" lvl="1">
                <a:lnSpc>
                  <a:spcPts val="26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Designed for repetitive semiconductor structures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Spatially distinct candidates are preserved rather than incorrectly suppressing physically different repeated patterns. </a:t>
              </a:r>
            </a:p>
            <a:p>
              <a:pPr algn="l" marL="345441" indent="-172721" lvl="1">
                <a:lnSpc>
                  <a:spcPts val="26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Evaluator-ready output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Produces predicted centre coordinates, matching scale, NCC score, candidate locations and a visualized localization result. </a:t>
              </a:r>
            </a:p>
            <a:p>
              <a:pPr algn="l" marL="345441" indent="-172721" lvl="1">
                <a:lnSpc>
                  <a:spcPts val="26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600" spc="68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Computationally practical architecture</a:t>
              </a:r>
              <a:r>
                <a:rPr lang="en-US" sz="1600" spc="68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The inference path is based on OpenCV/NumPy/SciPy operations rather than a large learned model, providing a strong basis for CPU/edge deployment—subject to measured runtime and hardware validation.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5593385" cy="700888"/>
            <a:chOff x="0" y="0"/>
            <a:chExt cx="7457846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57846" cy="934516"/>
            </a:xfrm>
            <a:custGeom>
              <a:avLst/>
              <a:gdLst/>
              <a:ahLst/>
              <a:cxnLst/>
              <a:rect r="r" b="b" t="t" l="l"/>
              <a:pathLst>
                <a:path h="934516" w="7457846">
                  <a:moveTo>
                    <a:pt x="0" y="0"/>
                  </a:moveTo>
                  <a:lnTo>
                    <a:pt x="7457846" y="0"/>
                  </a:lnTo>
                  <a:lnTo>
                    <a:pt x="7457846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499" r="0" b="-10549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457846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Impact and Benefits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33398" y="3513825"/>
            <a:ext cx="7549134" cy="6029997"/>
            <a:chOff x="0" y="0"/>
            <a:chExt cx="10065512" cy="80399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65512" cy="8039912"/>
            </a:xfrm>
            <a:custGeom>
              <a:avLst/>
              <a:gdLst/>
              <a:ahLst/>
              <a:cxnLst/>
              <a:rect r="r" b="b" t="t" l="l"/>
              <a:pathLst>
                <a:path h="8039912" w="10065512">
                  <a:moveTo>
                    <a:pt x="0" y="388804"/>
                  </a:moveTo>
                  <a:cubicBezTo>
                    <a:pt x="0" y="174204"/>
                    <a:pt x="52578" y="0"/>
                    <a:pt x="117348" y="0"/>
                  </a:cubicBezTo>
                  <a:lnTo>
                    <a:pt x="9948164" y="0"/>
                  </a:lnTo>
                  <a:cubicBezTo>
                    <a:pt x="10012934" y="0"/>
                    <a:pt x="10065512" y="174204"/>
                    <a:pt x="10065512" y="388804"/>
                  </a:cubicBezTo>
                  <a:lnTo>
                    <a:pt x="10065512" y="7651107"/>
                  </a:lnTo>
                  <a:cubicBezTo>
                    <a:pt x="10065512" y="7865707"/>
                    <a:pt x="10012934" y="8039912"/>
                    <a:pt x="9948164" y="8039912"/>
                  </a:cubicBezTo>
                  <a:lnTo>
                    <a:pt x="117348" y="8039912"/>
                  </a:lnTo>
                  <a:cubicBezTo>
                    <a:pt x="52578" y="8039912"/>
                    <a:pt x="0" y="7865707"/>
                    <a:pt x="0" y="7651107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625613" y="3736555"/>
            <a:ext cx="464896" cy="464896"/>
            <a:chOff x="0" y="0"/>
            <a:chExt cx="305410" cy="30541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305435" cy="305435"/>
            </a:xfrm>
            <a:custGeom>
              <a:avLst/>
              <a:gdLst/>
              <a:ahLst/>
              <a:cxnLst/>
              <a:rect r="r" b="b" t="t" l="l"/>
              <a:pathLst>
                <a:path h="305435" w="305435">
                  <a:moveTo>
                    <a:pt x="0" y="0"/>
                  </a:moveTo>
                  <a:lnTo>
                    <a:pt x="305435" y="0"/>
                  </a:lnTo>
                  <a:lnTo>
                    <a:pt x="30543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8" b="8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264969" y="3671900"/>
            <a:ext cx="2707568" cy="642135"/>
            <a:chOff x="0" y="0"/>
            <a:chExt cx="3610090" cy="8561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10090" cy="856181"/>
            </a:xfrm>
            <a:custGeom>
              <a:avLst/>
              <a:gdLst/>
              <a:ahLst/>
              <a:cxnLst/>
              <a:rect r="r" b="b" t="t" l="l"/>
              <a:pathLst>
                <a:path h="856181" w="3610090">
                  <a:moveTo>
                    <a:pt x="0" y="0"/>
                  </a:moveTo>
                  <a:lnTo>
                    <a:pt x="3610090" y="0"/>
                  </a:lnTo>
                  <a:lnTo>
                    <a:pt x="3610090" y="856181"/>
                  </a:lnTo>
                  <a:lnTo>
                    <a:pt x="0" y="856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633" r="26647" b="141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610090" cy="875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Primary Impact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58061" y="5029200"/>
            <a:ext cx="6222949" cy="4457091"/>
            <a:chOff x="0" y="0"/>
            <a:chExt cx="8297266" cy="59427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97266" cy="5942789"/>
            </a:xfrm>
            <a:custGeom>
              <a:avLst/>
              <a:gdLst/>
              <a:ahLst/>
              <a:cxnLst/>
              <a:rect r="r" b="b" t="t" l="l"/>
              <a:pathLst>
                <a:path h="5942789" w="8297266">
                  <a:moveTo>
                    <a:pt x="0" y="0"/>
                  </a:moveTo>
                  <a:lnTo>
                    <a:pt x="8297266" y="0"/>
                  </a:lnTo>
                  <a:lnTo>
                    <a:pt x="8297266" y="5942789"/>
                  </a:lnTo>
                  <a:lnTo>
                    <a:pt x="0" y="59427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788" r="0" b="6637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76225"/>
              <a:ext cx="8297266" cy="6219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87" indent="-226693" lvl="1">
                <a:lnSpc>
                  <a:spcPts val="524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Reduces manual re-localization</a:t>
              </a:r>
            </a:p>
            <a:p>
              <a:pPr algn="l" marL="453387" indent="-226693" lvl="1">
                <a:lnSpc>
                  <a:spcPts val="524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Improves inspection continuity</a:t>
              </a:r>
            </a:p>
            <a:p>
              <a:pPr algn="l" marL="453387" indent="-226693" lvl="1">
                <a:lnSpc>
                  <a:spcPts val="524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Handles repetitive wafer patterns </a:t>
              </a:r>
            </a:p>
            <a:p>
              <a:pPr algn="l" marL="453387" indent="-226693" lvl="1">
                <a:lnSpc>
                  <a:spcPts val="524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Robust to magnification uncertainty</a:t>
              </a:r>
            </a:p>
            <a:p>
              <a:pPr algn="l" marL="453387" indent="-226693" lvl="1">
                <a:lnSpc>
                  <a:spcPts val="524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Low deployment complexity</a:t>
              </a:r>
            </a:p>
            <a:p>
              <a:pPr algn="l" marL="453387" indent="-226693" lvl="1">
                <a:lnSpc>
                  <a:spcPts val="524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Low computational cost</a:t>
              </a:r>
            </a:p>
            <a:p>
              <a:pPr algn="l" marL="453387" indent="-226693" lvl="1">
                <a:lnSpc>
                  <a:spcPts val="524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extensive training dataset required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06382" y="3513825"/>
            <a:ext cx="7549134" cy="6029997"/>
            <a:chOff x="0" y="0"/>
            <a:chExt cx="10065512" cy="80399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65512" cy="8039912"/>
            </a:xfrm>
            <a:custGeom>
              <a:avLst/>
              <a:gdLst/>
              <a:ahLst/>
              <a:cxnLst/>
              <a:rect r="r" b="b" t="t" l="l"/>
              <a:pathLst>
                <a:path h="8039912" w="10065512">
                  <a:moveTo>
                    <a:pt x="0" y="388804"/>
                  </a:moveTo>
                  <a:cubicBezTo>
                    <a:pt x="0" y="174204"/>
                    <a:pt x="52578" y="0"/>
                    <a:pt x="117348" y="0"/>
                  </a:cubicBezTo>
                  <a:lnTo>
                    <a:pt x="9948164" y="0"/>
                  </a:lnTo>
                  <a:cubicBezTo>
                    <a:pt x="10012934" y="0"/>
                    <a:pt x="10065512" y="174204"/>
                    <a:pt x="10065512" y="388804"/>
                  </a:cubicBezTo>
                  <a:lnTo>
                    <a:pt x="10065512" y="7651107"/>
                  </a:lnTo>
                  <a:cubicBezTo>
                    <a:pt x="10065512" y="7865707"/>
                    <a:pt x="10012934" y="8039912"/>
                    <a:pt x="9948164" y="8039912"/>
                  </a:cubicBezTo>
                  <a:lnTo>
                    <a:pt x="117348" y="8039912"/>
                  </a:lnTo>
                  <a:cubicBezTo>
                    <a:pt x="52578" y="8039912"/>
                    <a:pt x="0" y="7865707"/>
                    <a:pt x="0" y="7651107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470391" y="3755605"/>
            <a:ext cx="628652" cy="558430"/>
            <a:chOff x="0" y="0"/>
            <a:chExt cx="343814" cy="30541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343789" cy="305435"/>
            </a:xfrm>
            <a:custGeom>
              <a:avLst/>
              <a:gdLst/>
              <a:ahLst/>
              <a:cxnLst/>
              <a:rect r="r" b="b" t="t" l="l"/>
              <a:pathLst>
                <a:path h="305435" w="343789">
                  <a:moveTo>
                    <a:pt x="0" y="0"/>
                  </a:moveTo>
                  <a:lnTo>
                    <a:pt x="343789" y="0"/>
                  </a:lnTo>
                  <a:lnTo>
                    <a:pt x="343789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33" t="0" r="25" b="-436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215142" y="3679320"/>
            <a:ext cx="4306926" cy="642135"/>
            <a:chOff x="0" y="0"/>
            <a:chExt cx="5742568" cy="85618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42568" cy="856181"/>
            </a:xfrm>
            <a:custGeom>
              <a:avLst/>
              <a:gdLst/>
              <a:ahLst/>
              <a:cxnLst/>
              <a:rect r="r" b="b" t="t" l="l"/>
              <a:pathLst>
                <a:path h="856181" w="5742568">
                  <a:moveTo>
                    <a:pt x="0" y="0"/>
                  </a:moveTo>
                  <a:lnTo>
                    <a:pt x="5742568" y="0"/>
                  </a:lnTo>
                  <a:lnTo>
                    <a:pt x="5742568" y="856181"/>
                  </a:lnTo>
                  <a:lnTo>
                    <a:pt x="0" y="856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1978" r="32963" b="-1324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742568" cy="875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b="true" sz="2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Quantifiable Outcomes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13292" y="4543254"/>
            <a:ext cx="5980176" cy="4275937"/>
            <a:chOff x="0" y="0"/>
            <a:chExt cx="7973568" cy="57012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73568" cy="5701250"/>
            </a:xfrm>
            <a:custGeom>
              <a:avLst/>
              <a:gdLst/>
              <a:ahLst/>
              <a:cxnLst/>
              <a:rect r="r" b="b" t="t" l="l"/>
              <a:pathLst>
                <a:path h="5701250" w="7973568">
                  <a:moveTo>
                    <a:pt x="0" y="0"/>
                  </a:moveTo>
                  <a:lnTo>
                    <a:pt x="7973568" y="0"/>
                  </a:lnTo>
                  <a:lnTo>
                    <a:pt x="7973568" y="5701250"/>
                  </a:lnTo>
                  <a:lnTo>
                    <a:pt x="0" y="5701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562" r="0" b="660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7973568" cy="579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0208" indent="-205104" lvl="1">
                <a:lnSpc>
                  <a:spcPts val="30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 </a:t>
              </a: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Scale</a:t>
              </a: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hypotheses</a:t>
              </a:r>
            </a:p>
            <a:p>
              <a:pPr algn="l">
                <a:lnSpc>
                  <a:spcPts val="3058"/>
                </a:lnSpc>
              </a:pP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9×–11× @ 0.2×</a:t>
              </a:r>
            </a:p>
            <a:p>
              <a:pPr algn="l" marL="410208" indent="-205104" lvl="1">
                <a:lnSpc>
                  <a:spcPts val="30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≤5 Distinct candidate locations</a:t>
              </a:r>
            </a:p>
            <a:p>
              <a:pPr algn="l">
                <a:lnSpc>
                  <a:spcPts val="3058"/>
                </a:lnSpc>
              </a:pP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before final selection</a:t>
              </a:r>
            </a:p>
            <a:p>
              <a:pPr algn="l" marL="410208" indent="-205104" lvl="1">
                <a:lnSpc>
                  <a:spcPts val="30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0.05 NCC</a:t>
              </a:r>
            </a:p>
            <a:p>
              <a:pPr algn="l">
                <a:lnSpc>
                  <a:spcPts val="3058"/>
                </a:lnSpc>
              </a:pP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     Acceptance window</a:t>
              </a:r>
            </a:p>
            <a:p>
              <a:pPr algn="l">
                <a:lnSpc>
                  <a:spcPts val="3058"/>
                </a:lnSpc>
              </a:pP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relative to best match</a:t>
              </a:r>
            </a:p>
            <a:p>
              <a:pPr algn="l" marL="410208" indent="-205104" lvl="1">
                <a:lnSpc>
                  <a:spcPts val="30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≥30 Independent test pairs</a:t>
              </a:r>
            </a:p>
            <a:p>
              <a:pPr algn="l">
                <a:lnSpc>
                  <a:spcPts val="3058"/>
                </a:lnSpc>
              </a:pP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      </a:t>
              </a: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validation requirement</a:t>
              </a:r>
            </a:p>
            <a:p>
              <a:pPr algn="l" marL="410208" indent="-205104" lvl="1">
                <a:lnSpc>
                  <a:spcPts val="30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400 </a:t>
              </a:r>
              <a:r>
                <a:rPr lang="en-US" b="true" sz="1899">
                  <a:solidFill>
                    <a:srgbClr val="D1D5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ms Average inference time</a:t>
              </a:r>
            </a:p>
            <a:p>
              <a:pPr algn="l">
                <a:lnSpc>
                  <a:spcPts val="3058"/>
                </a:lnSpc>
              </a:pP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  <a:r>
                <a:rPr lang="en-US" sz="1899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per image pair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110385" y="341566"/>
            <a:ext cx="2411054" cy="1175385"/>
            <a:chOff x="0" y="0"/>
            <a:chExt cx="3214738" cy="15671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57250" y="314401"/>
            <a:ext cx="16573043" cy="1286561"/>
            <a:chOff x="0" y="0"/>
            <a:chExt cx="22097390" cy="171541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443286" y="494081"/>
            <a:ext cx="13745232" cy="879653"/>
            <a:chOff x="0" y="0"/>
            <a:chExt cx="18326976" cy="117287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" r="0" b="-4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92288" y="4330980"/>
            <a:ext cx="7284188" cy="755370"/>
            <a:chOff x="0" y="0"/>
            <a:chExt cx="9712250" cy="1007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12251" cy="1007160"/>
            </a:xfrm>
            <a:custGeom>
              <a:avLst/>
              <a:gdLst/>
              <a:ahLst/>
              <a:cxnLst/>
              <a:rect r="r" b="b" t="t" l="l"/>
              <a:pathLst>
                <a:path h="1007160" w="9712251">
                  <a:moveTo>
                    <a:pt x="0" y="0"/>
                  </a:moveTo>
                  <a:lnTo>
                    <a:pt x="9712251" y="0"/>
                  </a:lnTo>
                  <a:lnTo>
                    <a:pt x="9712251" y="1007160"/>
                  </a:lnTo>
                  <a:lnTo>
                    <a:pt x="0" y="1007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444" r="65183" b="1560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9712250" cy="1026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Automated Recovery of</a:t>
              </a:r>
              <a:r>
                <a:rPr lang="en-US" sz="1899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Wafer-Inspection Navigation Errors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857146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800911"/>
            <a:ext cx="11736781" cy="700888"/>
            <a:chOff x="0" y="0"/>
            <a:chExt cx="15649042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649042" cy="934516"/>
            </a:xfrm>
            <a:custGeom>
              <a:avLst/>
              <a:gdLst/>
              <a:ahLst/>
              <a:cxnLst/>
              <a:rect r="r" b="b" t="t" l="l"/>
              <a:pathLst>
                <a:path h="934516" w="15649042">
                  <a:moveTo>
                    <a:pt x="0" y="0"/>
                  </a:moveTo>
                  <a:lnTo>
                    <a:pt x="15649042" y="0"/>
                  </a:lnTo>
                  <a:lnTo>
                    <a:pt x="15649042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288" r="0" b="-2762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649042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Technology &amp; Feasibility/Methodology Used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2809113"/>
            <a:ext cx="16592093" cy="7062216"/>
            <a:chOff x="0" y="0"/>
            <a:chExt cx="22122790" cy="9416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892" cy="9416288"/>
            </a:xfrm>
            <a:custGeom>
              <a:avLst/>
              <a:gdLst/>
              <a:ahLst/>
              <a:cxnLst/>
              <a:rect r="r" b="b" t="t" l="l"/>
              <a:pathLst>
                <a:path h="9416288" w="22122892">
                  <a:moveTo>
                    <a:pt x="0" y="59563"/>
                  </a:moveTo>
                  <a:cubicBezTo>
                    <a:pt x="0" y="26670"/>
                    <a:pt x="26670" y="0"/>
                    <a:pt x="59563" y="0"/>
                  </a:cubicBezTo>
                  <a:lnTo>
                    <a:pt x="22063329" y="0"/>
                  </a:lnTo>
                  <a:cubicBezTo>
                    <a:pt x="22096222" y="0"/>
                    <a:pt x="22122892" y="26670"/>
                    <a:pt x="22122892" y="59563"/>
                  </a:cubicBezTo>
                  <a:lnTo>
                    <a:pt x="22122892" y="9356725"/>
                  </a:lnTo>
                  <a:cubicBezTo>
                    <a:pt x="22122892" y="9389618"/>
                    <a:pt x="22096222" y="9416288"/>
                    <a:pt x="22063329" y="9416288"/>
                  </a:cubicBezTo>
                  <a:lnTo>
                    <a:pt x="59563" y="9416288"/>
                  </a:lnTo>
                  <a:cubicBezTo>
                    <a:pt x="26670" y="9416288"/>
                    <a:pt x="0" y="9389618"/>
                    <a:pt x="0" y="935672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279006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79006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37533" y="3446831"/>
            <a:ext cx="15716612" cy="3256709"/>
            <a:chOff x="0" y="0"/>
            <a:chExt cx="20955483" cy="43422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955400" cy="4342193"/>
            </a:xfrm>
            <a:custGeom>
              <a:avLst/>
              <a:gdLst/>
              <a:ahLst/>
              <a:cxnLst/>
              <a:rect r="r" b="b" t="t" l="l"/>
              <a:pathLst>
                <a:path h="4342193" w="20955400">
                  <a:moveTo>
                    <a:pt x="0" y="185648"/>
                  </a:moveTo>
                  <a:cubicBezTo>
                    <a:pt x="0" y="83199"/>
                    <a:pt x="54600" y="0"/>
                    <a:pt x="121833" y="0"/>
                  </a:cubicBezTo>
                  <a:lnTo>
                    <a:pt x="20833566" y="0"/>
                  </a:lnTo>
                  <a:cubicBezTo>
                    <a:pt x="20900940" y="0"/>
                    <a:pt x="20955400" y="83199"/>
                    <a:pt x="20955400" y="185648"/>
                  </a:cubicBezTo>
                  <a:lnTo>
                    <a:pt x="20955400" y="4156545"/>
                  </a:lnTo>
                  <a:cubicBezTo>
                    <a:pt x="20955400" y="4259207"/>
                    <a:pt x="20900799" y="4342193"/>
                    <a:pt x="20833566" y="4342193"/>
                  </a:cubicBezTo>
                  <a:lnTo>
                    <a:pt x="121833" y="4342193"/>
                  </a:lnTo>
                  <a:cubicBezTo>
                    <a:pt x="54460" y="4342193"/>
                    <a:pt x="0" y="4258994"/>
                    <a:pt x="0" y="4156545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57757" y="3511908"/>
            <a:ext cx="4962296" cy="642135"/>
            <a:chOff x="0" y="0"/>
            <a:chExt cx="6616395" cy="8561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16396" cy="856181"/>
            </a:xfrm>
            <a:custGeom>
              <a:avLst/>
              <a:gdLst/>
              <a:ahLst/>
              <a:cxnLst/>
              <a:rect r="r" b="b" t="t" l="l"/>
              <a:pathLst>
                <a:path h="856181" w="6616396">
                  <a:moveTo>
                    <a:pt x="0" y="0"/>
                  </a:moveTo>
                  <a:lnTo>
                    <a:pt x="6616396" y="0"/>
                  </a:lnTo>
                  <a:lnTo>
                    <a:pt x="6616396" y="856181"/>
                  </a:lnTo>
                  <a:lnTo>
                    <a:pt x="0" y="856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0241" r="38527" b="-1488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616395" cy="875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b="true" sz="2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 STRATEGY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33398" y="4096893"/>
            <a:ext cx="14582985" cy="516413"/>
            <a:chOff x="0" y="0"/>
            <a:chExt cx="19443979" cy="6885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443979" cy="688551"/>
            </a:xfrm>
            <a:custGeom>
              <a:avLst/>
              <a:gdLst/>
              <a:ahLst/>
              <a:cxnLst/>
              <a:rect r="r" b="b" t="t" l="l"/>
              <a:pathLst>
                <a:path h="688551" w="19443979">
                  <a:moveTo>
                    <a:pt x="0" y="0"/>
                  </a:moveTo>
                  <a:lnTo>
                    <a:pt x="19443979" y="0"/>
                  </a:lnTo>
                  <a:lnTo>
                    <a:pt x="19443979" y="688551"/>
                  </a:lnTo>
                  <a:lnTo>
                    <a:pt x="0" y="68855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21729" r="10008" b="-46860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9443979" cy="707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Procedural DRAM → SEM Degradation → Scale-Aware Matching → Ambiguity Resolution → Quantitative Validation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33398" y="6855940"/>
            <a:ext cx="4962296" cy="2432459"/>
            <a:chOff x="0" y="0"/>
            <a:chExt cx="6616395" cy="324327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6319" cy="3243192"/>
            </a:xfrm>
            <a:custGeom>
              <a:avLst/>
              <a:gdLst/>
              <a:ahLst/>
              <a:cxnLst/>
              <a:rect r="r" b="b" t="t" l="l"/>
              <a:pathLst>
                <a:path h="3243192" w="6616319">
                  <a:moveTo>
                    <a:pt x="0" y="259203"/>
                  </a:moveTo>
                  <a:cubicBezTo>
                    <a:pt x="0" y="115999"/>
                    <a:pt x="67691" y="0"/>
                    <a:pt x="151257" y="0"/>
                  </a:cubicBezTo>
                  <a:lnTo>
                    <a:pt x="6465062" y="0"/>
                  </a:lnTo>
                  <a:cubicBezTo>
                    <a:pt x="6548628" y="0"/>
                    <a:pt x="6616319" y="115999"/>
                    <a:pt x="6616319" y="259203"/>
                  </a:cubicBezTo>
                  <a:lnTo>
                    <a:pt x="6616319" y="2983989"/>
                  </a:lnTo>
                  <a:cubicBezTo>
                    <a:pt x="6616319" y="3127193"/>
                    <a:pt x="6548628" y="3243192"/>
                    <a:pt x="6465062" y="3243192"/>
                  </a:cubicBezTo>
                  <a:lnTo>
                    <a:pt x="151257" y="3243192"/>
                  </a:lnTo>
                  <a:cubicBezTo>
                    <a:pt x="67691" y="3243192"/>
                    <a:pt x="0" y="3127193"/>
                    <a:pt x="0" y="2983989"/>
                  </a:cubicBezTo>
                  <a:close/>
                </a:path>
              </a:pathLst>
            </a:custGeom>
            <a:solidFill>
              <a:srgbClr val="273383">
                <a:alpha val="15686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3722522" y="8177479"/>
            <a:ext cx="385420" cy="342900"/>
            <a:chOff x="0" y="0"/>
            <a:chExt cx="513893" cy="45720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513842" cy="457200"/>
            </a:xfrm>
            <a:custGeom>
              <a:avLst/>
              <a:gdLst/>
              <a:ahLst/>
              <a:cxnLst/>
              <a:rect r="r" b="b" t="t" l="l"/>
              <a:pathLst>
                <a:path h="457200" w="513842">
                  <a:moveTo>
                    <a:pt x="0" y="0"/>
                  </a:moveTo>
                  <a:lnTo>
                    <a:pt x="513842" y="0"/>
                  </a:lnTo>
                  <a:lnTo>
                    <a:pt x="513842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44" r="-9" b="-402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792578" y="8735720"/>
            <a:ext cx="2412644" cy="286664"/>
            <a:chOff x="0" y="0"/>
            <a:chExt cx="3216859" cy="3822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16860" cy="382220"/>
            </a:xfrm>
            <a:custGeom>
              <a:avLst/>
              <a:gdLst/>
              <a:ahLst/>
              <a:cxnLst/>
              <a:rect r="r" b="b" t="t" l="l"/>
              <a:pathLst>
                <a:path h="382220" w="3216860">
                  <a:moveTo>
                    <a:pt x="0" y="0"/>
                  </a:moveTo>
                  <a:lnTo>
                    <a:pt x="3216860" y="0"/>
                  </a:lnTo>
                  <a:lnTo>
                    <a:pt x="32168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3991" r="0" b="-11399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216859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Poppins"/>
                  <a:ea typeface="Poppins"/>
                  <a:cs typeface="Poppins"/>
                  <a:sym typeface="Poppins"/>
                </a:rPr>
                <a:t>Software Architecture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663309" y="6855940"/>
            <a:ext cx="4962296" cy="2432459"/>
            <a:chOff x="0" y="0"/>
            <a:chExt cx="6616395" cy="324327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16319" cy="3243192"/>
            </a:xfrm>
            <a:custGeom>
              <a:avLst/>
              <a:gdLst/>
              <a:ahLst/>
              <a:cxnLst/>
              <a:rect r="r" b="b" t="t" l="l"/>
              <a:pathLst>
                <a:path h="3243192" w="6616319">
                  <a:moveTo>
                    <a:pt x="0" y="259203"/>
                  </a:moveTo>
                  <a:cubicBezTo>
                    <a:pt x="0" y="115999"/>
                    <a:pt x="67691" y="0"/>
                    <a:pt x="151257" y="0"/>
                  </a:cubicBezTo>
                  <a:lnTo>
                    <a:pt x="6465062" y="0"/>
                  </a:lnTo>
                  <a:cubicBezTo>
                    <a:pt x="6548628" y="0"/>
                    <a:pt x="6616319" y="115999"/>
                    <a:pt x="6616319" y="259203"/>
                  </a:cubicBezTo>
                  <a:lnTo>
                    <a:pt x="6616319" y="2983989"/>
                  </a:lnTo>
                  <a:cubicBezTo>
                    <a:pt x="6616319" y="3127193"/>
                    <a:pt x="6548628" y="3243192"/>
                    <a:pt x="6465062" y="3243192"/>
                  </a:cubicBezTo>
                  <a:lnTo>
                    <a:pt x="151257" y="3243192"/>
                  </a:lnTo>
                  <a:cubicBezTo>
                    <a:pt x="67691" y="3243192"/>
                    <a:pt x="0" y="3127193"/>
                    <a:pt x="0" y="2983989"/>
                  </a:cubicBezTo>
                  <a:close/>
                </a:path>
              </a:pathLst>
            </a:custGeom>
            <a:solidFill>
              <a:srgbClr val="273383">
                <a:alpha val="15686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973007" y="8177479"/>
            <a:ext cx="342900" cy="342900"/>
            <a:chOff x="0" y="0"/>
            <a:chExt cx="457200" cy="4572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930591" y="8735720"/>
            <a:ext cx="2584094" cy="286664"/>
            <a:chOff x="0" y="0"/>
            <a:chExt cx="3445459" cy="3822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45460" cy="382220"/>
            </a:xfrm>
            <a:custGeom>
              <a:avLst/>
              <a:gdLst/>
              <a:ahLst/>
              <a:cxnLst/>
              <a:rect r="r" b="b" t="t" l="l"/>
              <a:pathLst>
                <a:path h="382220" w="3445460">
                  <a:moveTo>
                    <a:pt x="0" y="0"/>
                  </a:moveTo>
                  <a:lnTo>
                    <a:pt x="3445460" y="0"/>
                  </a:lnTo>
                  <a:lnTo>
                    <a:pt x="34454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644" r="0" b="-12564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445459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Poppins"/>
                  <a:ea typeface="Poppins"/>
                  <a:cs typeface="Poppins"/>
                  <a:sym typeface="Poppins"/>
                </a:rPr>
                <a:t>Hardware Components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91848" y="6855940"/>
            <a:ext cx="4962296" cy="2432459"/>
            <a:chOff x="0" y="0"/>
            <a:chExt cx="6616395" cy="32432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16319" cy="3243192"/>
            </a:xfrm>
            <a:custGeom>
              <a:avLst/>
              <a:gdLst/>
              <a:ahLst/>
              <a:cxnLst/>
              <a:rect r="r" b="b" t="t" l="l"/>
              <a:pathLst>
                <a:path h="3243192" w="6616319">
                  <a:moveTo>
                    <a:pt x="0" y="259203"/>
                  </a:moveTo>
                  <a:cubicBezTo>
                    <a:pt x="0" y="115999"/>
                    <a:pt x="67691" y="0"/>
                    <a:pt x="151257" y="0"/>
                  </a:cubicBezTo>
                  <a:lnTo>
                    <a:pt x="6465062" y="0"/>
                  </a:lnTo>
                  <a:cubicBezTo>
                    <a:pt x="6548628" y="0"/>
                    <a:pt x="6616319" y="115999"/>
                    <a:pt x="6616319" y="259203"/>
                  </a:cubicBezTo>
                  <a:lnTo>
                    <a:pt x="6616319" y="2983989"/>
                  </a:lnTo>
                  <a:cubicBezTo>
                    <a:pt x="6616319" y="3127193"/>
                    <a:pt x="6548628" y="3243192"/>
                    <a:pt x="6465062" y="3243192"/>
                  </a:cubicBezTo>
                  <a:lnTo>
                    <a:pt x="151257" y="3243192"/>
                  </a:lnTo>
                  <a:cubicBezTo>
                    <a:pt x="67691" y="3243192"/>
                    <a:pt x="0" y="3127193"/>
                    <a:pt x="0" y="2983989"/>
                  </a:cubicBezTo>
                  <a:close/>
                </a:path>
              </a:pathLst>
            </a:custGeom>
            <a:solidFill>
              <a:srgbClr val="273383">
                <a:alpha val="15686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201546" y="8177479"/>
            <a:ext cx="342900" cy="342900"/>
            <a:chOff x="0" y="0"/>
            <a:chExt cx="457200" cy="45720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378586" y="8735720"/>
            <a:ext cx="2154784" cy="286664"/>
            <a:chOff x="0" y="0"/>
            <a:chExt cx="2873045" cy="3822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873044" cy="382220"/>
            </a:xfrm>
            <a:custGeom>
              <a:avLst/>
              <a:gdLst/>
              <a:ahLst/>
              <a:cxnLst/>
              <a:rect r="r" b="b" t="t" l="l"/>
              <a:pathLst>
                <a:path h="382220" w="2873044">
                  <a:moveTo>
                    <a:pt x="0" y="0"/>
                  </a:moveTo>
                  <a:lnTo>
                    <a:pt x="2873044" y="0"/>
                  </a:lnTo>
                  <a:lnTo>
                    <a:pt x="2873044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6463" r="0" b="-9646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873045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Poppins"/>
                  <a:ea typeface="Poppins"/>
                  <a:cs typeface="Poppins"/>
                  <a:sym typeface="Poppins"/>
                </a:rPr>
                <a:t>Development Tools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017116" y="342900"/>
            <a:ext cx="2411054" cy="1175385"/>
            <a:chOff x="0" y="0"/>
            <a:chExt cx="3214738" cy="15671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57250" y="361188"/>
            <a:ext cx="16573043" cy="1286561"/>
            <a:chOff x="0" y="0"/>
            <a:chExt cx="22097390" cy="171541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271151" y="567309"/>
            <a:ext cx="13745232" cy="879653"/>
            <a:chOff x="0" y="0"/>
            <a:chExt cx="18326976" cy="11728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" r="0" b="-4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286561" y="4565979"/>
            <a:ext cx="15716612" cy="190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3058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D1D5DB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</a:t>
            </a:r>
            <a:r>
              <a:rPr lang="en-US" sz="1899" strike="noStrike" u="non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: 1000×1000 grayscale DRAM reference/search pairs with exact ground truth.</a:t>
            </a:r>
          </a:p>
          <a:p>
            <a:pPr algn="l" marL="410208" indent="-205104" lvl="1">
              <a:lnSpc>
                <a:spcPts val="3058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D1D5DB"/>
                </a:solidFill>
                <a:latin typeface="Poppins Bold"/>
                <a:ea typeface="Poppins Bold"/>
                <a:cs typeface="Poppins Bold"/>
                <a:sym typeface="Poppins Bold"/>
              </a:rPr>
              <a:t>Degrade</a:t>
            </a:r>
            <a:r>
              <a:rPr lang="en-US" sz="1899" strike="noStrike" u="non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: Apply controlled blur, noise, drift, scanline and feature-loss effects.</a:t>
            </a:r>
          </a:p>
          <a:p>
            <a:pPr algn="l" marL="410208" indent="-205104" lvl="1">
              <a:lnSpc>
                <a:spcPts val="3058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D1D5DB"/>
                </a:solidFill>
                <a:latin typeface="Poppins Bold"/>
                <a:ea typeface="Poppins Bold"/>
                <a:cs typeface="Poppins Bold"/>
                <a:sym typeface="Poppins Bold"/>
              </a:rPr>
              <a:t>Localize</a:t>
            </a:r>
            <a:r>
              <a:rPr lang="en-US" sz="1899" strike="noStrike" u="non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: Search 9×–11× scales using NCC template matching.</a:t>
            </a:r>
          </a:p>
          <a:p>
            <a:pPr algn="l" marL="410208" indent="-205104" lvl="1">
              <a:lnSpc>
                <a:spcPts val="3058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D1D5DB"/>
                </a:solidFill>
                <a:latin typeface="Poppins Bold"/>
                <a:ea typeface="Poppins Bold"/>
                <a:cs typeface="Poppins Bold"/>
                <a:sym typeface="Poppins Bold"/>
              </a:rPr>
              <a:t>Resolve</a:t>
            </a:r>
            <a:r>
              <a:rPr lang="en-US" sz="1899" strike="noStrike" u="non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: Retain spatially distinct candidates and select the valid match closest to image centre.</a:t>
            </a:r>
          </a:p>
          <a:p>
            <a:pPr algn="l" marL="410208" indent="-205104" lvl="1">
              <a:lnSpc>
                <a:spcPts val="3058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D1D5DB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</a:t>
            </a:r>
            <a:r>
              <a:rPr lang="en-US" sz="1899" strike="noStrike" u="non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: Report localization error, threshold-wise accuracy and runtime.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809657" y="7282129"/>
            <a:ext cx="420977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Python • OpenCV • NumPy • SciPy • Pillow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239754" y="7282129"/>
            <a:ext cx="373402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95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CPU • RAM</a:t>
            </a:r>
            <a:r>
              <a:rPr lang="en-US" sz="195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No dedicated GPU required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892305" y="7282129"/>
            <a:ext cx="496229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Python • Git/GitHub • CSV/JSON</a:t>
            </a:r>
          </a:p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README/requirements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5406847" cy="700888"/>
            <a:chOff x="0" y="0"/>
            <a:chExt cx="7209130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9130" cy="934516"/>
            </a:xfrm>
            <a:custGeom>
              <a:avLst/>
              <a:gdLst/>
              <a:ahLst/>
              <a:cxnLst/>
              <a:rect r="r" b="b" t="t" l="l"/>
              <a:pathLst>
                <a:path h="934516" w="7209130">
                  <a:moveTo>
                    <a:pt x="0" y="0"/>
                  </a:moveTo>
                  <a:lnTo>
                    <a:pt x="7209130" y="0"/>
                  </a:lnTo>
                  <a:lnTo>
                    <a:pt x="7209130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209130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 &amp; Video Link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776298" y="4035323"/>
            <a:ext cx="14734946" cy="2190293"/>
            <a:chOff x="0" y="0"/>
            <a:chExt cx="19646595" cy="29203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646646" cy="2920365"/>
            </a:xfrm>
            <a:custGeom>
              <a:avLst/>
              <a:gdLst/>
              <a:ahLst/>
              <a:cxnLst/>
              <a:rect r="r" b="b" t="t" l="l"/>
              <a:pathLst>
                <a:path h="2920365" w="19646646">
                  <a:moveTo>
                    <a:pt x="0" y="145669"/>
                  </a:moveTo>
                  <a:cubicBezTo>
                    <a:pt x="0" y="65151"/>
                    <a:pt x="65151" y="0"/>
                    <a:pt x="145669" y="0"/>
                  </a:cubicBezTo>
                  <a:lnTo>
                    <a:pt x="19500977" y="0"/>
                  </a:lnTo>
                  <a:cubicBezTo>
                    <a:pt x="19581368" y="0"/>
                    <a:pt x="19646646" y="65151"/>
                    <a:pt x="19646646" y="145669"/>
                  </a:cubicBezTo>
                  <a:lnTo>
                    <a:pt x="19646646" y="2774696"/>
                  </a:lnTo>
                  <a:cubicBezTo>
                    <a:pt x="19646646" y="2855087"/>
                    <a:pt x="19581495" y="2920365"/>
                    <a:pt x="19500977" y="2920365"/>
                  </a:cubicBezTo>
                  <a:lnTo>
                    <a:pt x="145669" y="2920365"/>
                  </a:lnTo>
                  <a:cubicBezTo>
                    <a:pt x="65151" y="2920365"/>
                    <a:pt x="0" y="2855214"/>
                    <a:pt x="0" y="277469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084" r="0" b="-81084"/>
              </a:stretch>
            </a:blip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124761" y="4611472"/>
            <a:ext cx="1037996" cy="1037996"/>
            <a:chOff x="0" y="0"/>
            <a:chExt cx="1383995" cy="13839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84046" cy="1384046"/>
            </a:xfrm>
            <a:custGeom>
              <a:avLst/>
              <a:gdLst/>
              <a:ahLst/>
              <a:cxnLst/>
              <a:rect r="r" b="b" t="t" l="l"/>
              <a:pathLst>
                <a:path h="1384046" w="1384046">
                  <a:moveTo>
                    <a:pt x="0" y="692023"/>
                  </a:moveTo>
                  <a:cubicBezTo>
                    <a:pt x="0" y="309880"/>
                    <a:pt x="309880" y="0"/>
                    <a:pt x="692023" y="0"/>
                  </a:cubicBezTo>
                  <a:cubicBezTo>
                    <a:pt x="1074166" y="0"/>
                    <a:pt x="1384046" y="309880"/>
                    <a:pt x="1384046" y="692023"/>
                  </a:cubicBezTo>
                  <a:cubicBezTo>
                    <a:pt x="1384046" y="1074166"/>
                    <a:pt x="1074166" y="1384046"/>
                    <a:pt x="692023" y="1384046"/>
                  </a:cubicBezTo>
                  <a:cubicBezTo>
                    <a:pt x="309880" y="1384046"/>
                    <a:pt x="0" y="1074166"/>
                    <a:pt x="0" y="692023"/>
                  </a:cubicBezTo>
                  <a:close/>
                </a:path>
              </a:pathLst>
            </a:custGeom>
            <a:solidFill>
              <a:srgbClr val="273383">
                <a:alpha val="3568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393442" y="4873295"/>
            <a:ext cx="500634" cy="514350"/>
            <a:chOff x="0" y="0"/>
            <a:chExt cx="667512" cy="6858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67512" cy="685800"/>
            </a:xfrm>
            <a:custGeom>
              <a:avLst/>
              <a:gdLst/>
              <a:ahLst/>
              <a:cxnLst/>
              <a:rect r="r" b="b" t="t" l="l"/>
              <a:pathLst>
                <a:path h="685800" w="667512">
                  <a:moveTo>
                    <a:pt x="0" y="0"/>
                  </a:moveTo>
                  <a:lnTo>
                    <a:pt x="667512" y="0"/>
                  </a:lnTo>
                  <a:lnTo>
                    <a:pt x="66751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37" t="0" r="-24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600450" y="4401464"/>
            <a:ext cx="3001061" cy="400507"/>
            <a:chOff x="0" y="0"/>
            <a:chExt cx="4001414" cy="5340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01414" cy="534010"/>
            </a:xfrm>
            <a:custGeom>
              <a:avLst/>
              <a:gdLst/>
              <a:ahLst/>
              <a:cxnLst/>
              <a:rect r="r" b="b" t="t" l="l"/>
              <a:pathLst>
                <a:path h="534010" w="4001414">
                  <a:moveTo>
                    <a:pt x="0" y="0"/>
                  </a:moveTo>
                  <a:lnTo>
                    <a:pt x="4001414" y="0"/>
                  </a:lnTo>
                  <a:lnTo>
                    <a:pt x="4001414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6004" r="0" b="-9600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4001414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 Repository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590925" y="4963897"/>
            <a:ext cx="12563704" cy="905104"/>
            <a:chOff x="0" y="0"/>
            <a:chExt cx="16751605" cy="12068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751554" cy="1206754"/>
            </a:xfrm>
            <a:custGeom>
              <a:avLst/>
              <a:gdLst/>
              <a:ahLst/>
              <a:cxnLst/>
              <a:rect r="r" b="b" t="t" l="l"/>
              <a:pathLst>
                <a:path h="1206754" w="16751554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lnTo>
                    <a:pt x="16510508" y="0"/>
                  </a:lnTo>
                  <a:cubicBezTo>
                    <a:pt x="16643604" y="0"/>
                    <a:pt x="16751554" y="107950"/>
                    <a:pt x="16751554" y="241046"/>
                  </a:cubicBezTo>
                  <a:lnTo>
                    <a:pt x="16751554" y="965708"/>
                  </a:lnTo>
                  <a:cubicBezTo>
                    <a:pt x="16751554" y="1098804"/>
                    <a:pt x="16643604" y="1206754"/>
                    <a:pt x="16510508" y="1206754"/>
                  </a:cubicBezTo>
                  <a:lnTo>
                    <a:pt x="241046" y="1206754"/>
                  </a:lnTo>
                  <a:cubicBezTo>
                    <a:pt x="107950" y="1206754"/>
                    <a:pt x="0" y="1098931"/>
                    <a:pt x="0" y="965708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4B556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3843223" y="5302606"/>
            <a:ext cx="285293" cy="229057"/>
            <a:chOff x="0" y="0"/>
            <a:chExt cx="380390" cy="30541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80365" cy="305435"/>
            </a:xfrm>
            <a:custGeom>
              <a:avLst/>
              <a:gdLst/>
              <a:ahLst/>
              <a:cxnLst/>
              <a:rect r="r" b="b" t="t" l="l"/>
              <a:pathLst>
                <a:path h="305435" w="380365">
                  <a:moveTo>
                    <a:pt x="0" y="0"/>
                  </a:moveTo>
                  <a:lnTo>
                    <a:pt x="380365" y="0"/>
                  </a:lnTo>
                  <a:lnTo>
                    <a:pt x="38036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178" r="-808" b="18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299966" y="5174456"/>
            <a:ext cx="8680789" cy="483984"/>
            <a:chOff x="0" y="0"/>
            <a:chExt cx="11574385" cy="6453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574384" cy="645311"/>
            </a:xfrm>
            <a:custGeom>
              <a:avLst/>
              <a:gdLst/>
              <a:ahLst/>
              <a:cxnLst/>
              <a:rect r="r" b="b" t="t" l="l"/>
              <a:pathLst>
                <a:path h="645311" w="11574384">
                  <a:moveTo>
                    <a:pt x="0" y="0"/>
                  </a:moveTo>
                  <a:lnTo>
                    <a:pt x="11574384" y="0"/>
                  </a:lnTo>
                  <a:lnTo>
                    <a:pt x="11574384" y="645311"/>
                  </a:lnTo>
                  <a:lnTo>
                    <a:pt x="0" y="64531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8033" r="32753" b="-1720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1574385" cy="664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 u="sng">
                  <a:solidFill>
                    <a:srgbClr val="D1D5DB"/>
                  </a:solidFill>
                  <a:latin typeface="Poppins Italics"/>
                  <a:ea typeface="Poppins Italics"/>
                  <a:cs typeface="Poppins Italics"/>
                  <a:sym typeface="Poppins Italics"/>
                  <a:hlinkClick r:id="rId10" tooltip="https://github.com/ankanmondal080205/solvers_drift_detection"/>
                </a:rPr>
                <a:t>github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76298" y="6664681"/>
            <a:ext cx="14734946" cy="2190293"/>
            <a:chOff x="0" y="0"/>
            <a:chExt cx="19646595" cy="29203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646646" cy="2920365"/>
            </a:xfrm>
            <a:custGeom>
              <a:avLst/>
              <a:gdLst/>
              <a:ahLst/>
              <a:cxnLst/>
              <a:rect r="r" b="b" t="t" l="l"/>
              <a:pathLst>
                <a:path h="2920365" w="19646646">
                  <a:moveTo>
                    <a:pt x="0" y="145669"/>
                  </a:moveTo>
                  <a:cubicBezTo>
                    <a:pt x="0" y="65151"/>
                    <a:pt x="65151" y="0"/>
                    <a:pt x="145669" y="0"/>
                  </a:cubicBezTo>
                  <a:lnTo>
                    <a:pt x="19500977" y="0"/>
                  </a:lnTo>
                  <a:cubicBezTo>
                    <a:pt x="19581368" y="0"/>
                    <a:pt x="19646646" y="65151"/>
                    <a:pt x="19646646" y="145669"/>
                  </a:cubicBezTo>
                  <a:lnTo>
                    <a:pt x="19646646" y="2774696"/>
                  </a:lnTo>
                  <a:cubicBezTo>
                    <a:pt x="19646646" y="2855087"/>
                    <a:pt x="19581495" y="2920365"/>
                    <a:pt x="19500977" y="2920365"/>
                  </a:cubicBezTo>
                  <a:lnTo>
                    <a:pt x="145669" y="2920365"/>
                  </a:lnTo>
                  <a:cubicBezTo>
                    <a:pt x="65151" y="2920365"/>
                    <a:pt x="0" y="2855214"/>
                    <a:pt x="0" y="277469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084" r="0" b="-81084"/>
              </a:stretch>
            </a:blip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2124761" y="7240829"/>
            <a:ext cx="1037996" cy="1037996"/>
            <a:chOff x="0" y="0"/>
            <a:chExt cx="1383995" cy="138399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84046" cy="1384046"/>
            </a:xfrm>
            <a:custGeom>
              <a:avLst/>
              <a:gdLst/>
              <a:ahLst/>
              <a:cxnLst/>
              <a:rect r="r" b="b" t="t" l="l"/>
              <a:pathLst>
                <a:path h="1384046" w="1384046">
                  <a:moveTo>
                    <a:pt x="0" y="692023"/>
                  </a:moveTo>
                  <a:cubicBezTo>
                    <a:pt x="0" y="309880"/>
                    <a:pt x="309880" y="0"/>
                    <a:pt x="692023" y="0"/>
                  </a:cubicBezTo>
                  <a:cubicBezTo>
                    <a:pt x="1074166" y="0"/>
                    <a:pt x="1384046" y="309880"/>
                    <a:pt x="1384046" y="692023"/>
                  </a:cubicBezTo>
                  <a:cubicBezTo>
                    <a:pt x="1384046" y="1074166"/>
                    <a:pt x="1074166" y="1384046"/>
                    <a:pt x="692023" y="1384046"/>
                  </a:cubicBezTo>
                  <a:cubicBezTo>
                    <a:pt x="309880" y="1384046"/>
                    <a:pt x="0" y="1074166"/>
                    <a:pt x="0" y="692023"/>
                  </a:cubicBezTo>
                  <a:close/>
                </a:path>
              </a:pathLst>
            </a:custGeom>
            <a:solidFill>
              <a:srgbClr val="273383">
                <a:alpha val="3568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350922" y="7502652"/>
            <a:ext cx="585673" cy="514350"/>
            <a:chOff x="0" y="0"/>
            <a:chExt cx="780898" cy="68580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780923" cy="685800"/>
            </a:xfrm>
            <a:custGeom>
              <a:avLst/>
              <a:gdLst/>
              <a:ahLst/>
              <a:cxnLst/>
              <a:rect r="r" b="b" t="t" l="l"/>
              <a:pathLst>
                <a:path h="685800" w="780923">
                  <a:moveTo>
                    <a:pt x="0" y="0"/>
                  </a:moveTo>
                  <a:lnTo>
                    <a:pt x="780923" y="0"/>
                  </a:lnTo>
                  <a:lnTo>
                    <a:pt x="780923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600" t="0" r="601" b="-196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600450" y="7030822"/>
            <a:ext cx="4629150" cy="400507"/>
            <a:chOff x="0" y="0"/>
            <a:chExt cx="6172200" cy="5340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172200" cy="534010"/>
            </a:xfrm>
            <a:custGeom>
              <a:avLst/>
              <a:gdLst/>
              <a:ahLst/>
              <a:cxnLst/>
              <a:rect r="r" b="b" t="t" l="l"/>
              <a:pathLst>
                <a:path h="534010" w="6172200">
                  <a:moveTo>
                    <a:pt x="0" y="0"/>
                  </a:moveTo>
                  <a:lnTo>
                    <a:pt x="6172200" y="0"/>
                  </a:lnTo>
                  <a:lnTo>
                    <a:pt x="6172200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5212" r="0" b="-17521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6172200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Prototype / Simulation Video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590925" y="7593254"/>
            <a:ext cx="12563704" cy="905104"/>
            <a:chOff x="0" y="0"/>
            <a:chExt cx="16751605" cy="120680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751554" cy="1206754"/>
            </a:xfrm>
            <a:custGeom>
              <a:avLst/>
              <a:gdLst/>
              <a:ahLst/>
              <a:cxnLst/>
              <a:rect r="r" b="b" t="t" l="l"/>
              <a:pathLst>
                <a:path h="1206754" w="16751554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lnTo>
                    <a:pt x="16510508" y="0"/>
                  </a:lnTo>
                  <a:cubicBezTo>
                    <a:pt x="16643604" y="0"/>
                    <a:pt x="16751554" y="107950"/>
                    <a:pt x="16751554" y="241046"/>
                  </a:cubicBezTo>
                  <a:lnTo>
                    <a:pt x="16751554" y="965708"/>
                  </a:lnTo>
                  <a:cubicBezTo>
                    <a:pt x="16751554" y="1098804"/>
                    <a:pt x="16643604" y="1206754"/>
                    <a:pt x="16510508" y="1206754"/>
                  </a:cubicBezTo>
                  <a:lnTo>
                    <a:pt x="241046" y="1206754"/>
                  </a:lnTo>
                  <a:cubicBezTo>
                    <a:pt x="107950" y="1206754"/>
                    <a:pt x="0" y="1098931"/>
                    <a:pt x="0" y="965708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4B556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3843223" y="7930591"/>
            <a:ext cx="257861" cy="229057"/>
            <a:chOff x="0" y="0"/>
            <a:chExt cx="343814" cy="30541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343789" cy="305435"/>
            </a:xfrm>
            <a:custGeom>
              <a:avLst/>
              <a:gdLst/>
              <a:ahLst/>
              <a:cxnLst/>
              <a:rect r="r" b="b" t="t" l="l"/>
              <a:pathLst>
                <a:path h="305435" w="343789">
                  <a:moveTo>
                    <a:pt x="0" y="0"/>
                  </a:moveTo>
                  <a:lnTo>
                    <a:pt x="343789" y="0"/>
                  </a:lnTo>
                  <a:lnTo>
                    <a:pt x="343789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33" t="0" r="25" b="-436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290441" y="7802804"/>
            <a:ext cx="9079992" cy="483984"/>
            <a:chOff x="0" y="0"/>
            <a:chExt cx="12106656" cy="6453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106656" cy="645311"/>
            </a:xfrm>
            <a:custGeom>
              <a:avLst/>
              <a:gdLst/>
              <a:ahLst/>
              <a:cxnLst/>
              <a:rect r="r" b="b" t="t" l="l"/>
              <a:pathLst>
                <a:path h="645311" w="12106656">
                  <a:moveTo>
                    <a:pt x="0" y="0"/>
                  </a:moveTo>
                  <a:lnTo>
                    <a:pt x="12106656" y="0"/>
                  </a:lnTo>
                  <a:lnTo>
                    <a:pt x="12106656" y="645311"/>
                  </a:lnTo>
                  <a:lnTo>
                    <a:pt x="0" y="64531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8574" r="0" b="-3025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2106656" cy="664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 u="sng">
                  <a:solidFill>
                    <a:srgbClr val="D1D5DB"/>
                  </a:solidFill>
                  <a:latin typeface="Poppins Italics"/>
                  <a:ea typeface="Poppins Italics"/>
                  <a:cs typeface="Poppins Italics"/>
                  <a:sym typeface="Poppins Italics"/>
                  <a:hlinkClick r:id="rId13" tooltip="https://drive.google.com/file/d/1rSBfk7IRv2Wk2saqysVBplsEkpDyJzKc/view?usp=drive_link"/>
                </a:rPr>
                <a:t>Video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7250" y="251917"/>
            <a:ext cx="16573043" cy="1286561"/>
            <a:chOff x="0" y="0"/>
            <a:chExt cx="22097390" cy="171541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271151" y="445770"/>
            <a:ext cx="13745232" cy="879653"/>
            <a:chOff x="0" y="0"/>
            <a:chExt cx="18326976" cy="117287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78582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728216"/>
            <a:ext cx="6936181" cy="700888"/>
            <a:chOff x="0" y="0"/>
            <a:chExt cx="9248242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48242" cy="934516"/>
            </a:xfrm>
            <a:custGeom>
              <a:avLst/>
              <a:gdLst/>
              <a:ahLst/>
              <a:cxnLst/>
              <a:rect r="r" b="b" t="t" l="l"/>
              <a:pathLst>
                <a:path h="934516" w="9248242">
                  <a:moveTo>
                    <a:pt x="0" y="0"/>
                  </a:moveTo>
                  <a:lnTo>
                    <a:pt x="9248242" y="0"/>
                  </a:lnTo>
                  <a:lnTo>
                    <a:pt x="9248242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829" r="0" b="-1428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248242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Research and References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2736418"/>
            <a:ext cx="16592093" cy="7134911"/>
            <a:chOff x="0" y="0"/>
            <a:chExt cx="22122790" cy="95132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892" cy="9513316"/>
            </a:xfrm>
            <a:custGeom>
              <a:avLst/>
              <a:gdLst/>
              <a:ahLst/>
              <a:cxnLst/>
              <a:rect r="r" b="b" t="t" l="l"/>
              <a:pathLst>
                <a:path h="9513316" w="22122892">
                  <a:moveTo>
                    <a:pt x="0" y="58928"/>
                  </a:moveTo>
                  <a:cubicBezTo>
                    <a:pt x="0" y="26416"/>
                    <a:pt x="26416" y="0"/>
                    <a:pt x="58928" y="0"/>
                  </a:cubicBezTo>
                  <a:lnTo>
                    <a:pt x="22063963" y="0"/>
                  </a:lnTo>
                  <a:cubicBezTo>
                    <a:pt x="22096476" y="0"/>
                    <a:pt x="22122892" y="26416"/>
                    <a:pt x="22122892" y="58928"/>
                  </a:cubicBezTo>
                  <a:lnTo>
                    <a:pt x="22122892" y="9454388"/>
                  </a:lnTo>
                  <a:cubicBezTo>
                    <a:pt x="22122892" y="9486900"/>
                    <a:pt x="22096476" y="9513316"/>
                    <a:pt x="22063963" y="9513316"/>
                  </a:cubicBezTo>
                  <a:lnTo>
                    <a:pt x="58928" y="9513316"/>
                  </a:lnTo>
                  <a:cubicBezTo>
                    <a:pt x="26416" y="9513189"/>
                    <a:pt x="0" y="9486900"/>
                    <a:pt x="0" y="945438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2717368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717368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23873" y="2970352"/>
            <a:ext cx="752704" cy="752704"/>
            <a:chOff x="0" y="0"/>
            <a:chExt cx="1003605" cy="10036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3554" cy="1003554"/>
            </a:xfrm>
            <a:custGeom>
              <a:avLst/>
              <a:gdLst/>
              <a:ahLst/>
              <a:cxnLst/>
              <a:rect r="r" b="b" t="t" l="l"/>
              <a:pathLst>
                <a:path h="1003554" w="1003554">
                  <a:moveTo>
                    <a:pt x="0" y="501777"/>
                  </a:moveTo>
                  <a:cubicBezTo>
                    <a:pt x="0" y="224663"/>
                    <a:pt x="224663" y="0"/>
                    <a:pt x="501777" y="0"/>
                  </a:cubicBezTo>
                  <a:cubicBezTo>
                    <a:pt x="778891" y="0"/>
                    <a:pt x="1003554" y="224663"/>
                    <a:pt x="1003554" y="501777"/>
                  </a:cubicBezTo>
                  <a:cubicBezTo>
                    <a:pt x="1003554" y="778891"/>
                    <a:pt x="778891" y="1003554"/>
                    <a:pt x="501777" y="1003554"/>
                  </a:cubicBezTo>
                  <a:cubicBezTo>
                    <a:pt x="224663" y="1003554"/>
                    <a:pt x="0" y="778891"/>
                    <a:pt x="0" y="501777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629461" y="3175940"/>
            <a:ext cx="342900" cy="342900"/>
            <a:chOff x="0" y="0"/>
            <a:chExt cx="457200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42820" y="3147136"/>
            <a:ext cx="5715457" cy="400507"/>
            <a:chOff x="0" y="0"/>
            <a:chExt cx="7620610" cy="5340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610" cy="534010"/>
            </a:xfrm>
            <a:custGeom>
              <a:avLst/>
              <a:gdLst/>
              <a:ahLst/>
              <a:cxnLst/>
              <a:rect r="r" b="b" t="t" l="l"/>
              <a:pathLst>
                <a:path h="534010" w="7620610">
                  <a:moveTo>
                    <a:pt x="0" y="0"/>
                  </a:moveTo>
                  <a:lnTo>
                    <a:pt x="7620610" y="0"/>
                  </a:lnTo>
                  <a:lnTo>
                    <a:pt x="7620610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8062" r="0" b="-22806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7620610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Research Background &amp; Methodology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33295" y="3595268"/>
            <a:ext cx="14420850" cy="2465832"/>
            <a:chOff x="0" y="0"/>
            <a:chExt cx="19227800" cy="32877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227800" cy="3287802"/>
            </a:xfrm>
            <a:custGeom>
              <a:avLst/>
              <a:gdLst/>
              <a:ahLst/>
              <a:cxnLst/>
              <a:rect r="r" b="b" t="t" l="l"/>
              <a:pathLst>
                <a:path h="3287802" w="19227800">
                  <a:moveTo>
                    <a:pt x="0" y="201271"/>
                  </a:moveTo>
                  <a:cubicBezTo>
                    <a:pt x="0" y="90098"/>
                    <a:pt x="59182" y="0"/>
                    <a:pt x="132207" y="0"/>
                  </a:cubicBezTo>
                  <a:lnTo>
                    <a:pt x="19095593" y="0"/>
                  </a:lnTo>
                  <a:cubicBezTo>
                    <a:pt x="19168618" y="0"/>
                    <a:pt x="19227800" y="90098"/>
                    <a:pt x="19227800" y="201271"/>
                  </a:cubicBezTo>
                  <a:lnTo>
                    <a:pt x="19227800" y="3086544"/>
                  </a:lnTo>
                  <a:cubicBezTo>
                    <a:pt x="19227800" y="3197716"/>
                    <a:pt x="19168618" y="3287802"/>
                    <a:pt x="19095593" y="3287802"/>
                  </a:cubicBezTo>
                  <a:lnTo>
                    <a:pt x="132207" y="3287802"/>
                  </a:lnTo>
                  <a:cubicBezTo>
                    <a:pt x="59182" y="3287802"/>
                    <a:pt x="0" y="3197716"/>
                    <a:pt x="0" y="3086544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685593" y="3723056"/>
            <a:ext cx="13959459" cy="2338045"/>
            <a:chOff x="0" y="0"/>
            <a:chExt cx="18612612" cy="311739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612611" cy="3117393"/>
            </a:xfrm>
            <a:custGeom>
              <a:avLst/>
              <a:gdLst/>
              <a:ahLst/>
              <a:cxnLst/>
              <a:rect r="r" b="b" t="t" l="l"/>
              <a:pathLst>
                <a:path h="3117393" w="18612611">
                  <a:moveTo>
                    <a:pt x="0" y="0"/>
                  </a:moveTo>
                  <a:lnTo>
                    <a:pt x="18612611" y="0"/>
                  </a:lnTo>
                  <a:lnTo>
                    <a:pt x="18612611" y="3117393"/>
                  </a:lnTo>
                  <a:lnTo>
                    <a:pt x="0" y="311739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265" r="40427" b="236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8612612" cy="3136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DRAM structure: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   </a:t>
              </a: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Repeated word-line/bit-line arrays + hierarchical bank organization → realistic synthetic DRAM topology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SEM degradation: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   </a:t>
              </a: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Blur + noise + drift + charging/scan artifacts + feature loss → controlled robustness testing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Localization: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    Multi-scale normalized correlation + candidate analysis → scale-aware navigation recovery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Validation: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    Ground-truth coordinates + Euclidean error + threshold pass rates → quantitative evaluation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23873" y="6213500"/>
            <a:ext cx="752704" cy="752704"/>
            <a:chOff x="0" y="0"/>
            <a:chExt cx="1003605" cy="10036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3554" cy="1003554"/>
            </a:xfrm>
            <a:custGeom>
              <a:avLst/>
              <a:gdLst/>
              <a:ahLst/>
              <a:cxnLst/>
              <a:rect r="r" b="b" t="t" l="l"/>
              <a:pathLst>
                <a:path h="1003554" w="1003554">
                  <a:moveTo>
                    <a:pt x="0" y="501777"/>
                  </a:moveTo>
                  <a:cubicBezTo>
                    <a:pt x="0" y="224663"/>
                    <a:pt x="224663" y="0"/>
                    <a:pt x="501777" y="0"/>
                  </a:cubicBezTo>
                  <a:cubicBezTo>
                    <a:pt x="778891" y="0"/>
                    <a:pt x="1003554" y="224663"/>
                    <a:pt x="1003554" y="501777"/>
                  </a:cubicBezTo>
                  <a:cubicBezTo>
                    <a:pt x="1003554" y="778891"/>
                    <a:pt x="778891" y="1003554"/>
                    <a:pt x="501777" y="1003554"/>
                  </a:cubicBezTo>
                  <a:cubicBezTo>
                    <a:pt x="224663" y="1003554"/>
                    <a:pt x="0" y="778891"/>
                    <a:pt x="0" y="501777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585570" y="6419088"/>
            <a:ext cx="429311" cy="342900"/>
            <a:chOff x="0" y="0"/>
            <a:chExt cx="572414" cy="45720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572389" cy="457200"/>
            </a:xfrm>
            <a:custGeom>
              <a:avLst/>
              <a:gdLst/>
              <a:ahLst/>
              <a:cxnLst/>
              <a:rect r="r" b="b" t="t" l="l"/>
              <a:pathLst>
                <a:path h="457200" w="572389">
                  <a:moveTo>
                    <a:pt x="0" y="0"/>
                  </a:moveTo>
                  <a:lnTo>
                    <a:pt x="572389" y="0"/>
                  </a:lnTo>
                  <a:lnTo>
                    <a:pt x="572389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79" t="0" r="-19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442820" y="6232550"/>
            <a:ext cx="3515411" cy="400507"/>
            <a:chOff x="0" y="0"/>
            <a:chExt cx="4687214" cy="5340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87214" cy="534010"/>
            </a:xfrm>
            <a:custGeom>
              <a:avLst/>
              <a:gdLst/>
              <a:ahLst/>
              <a:cxnLst/>
              <a:rect r="r" b="b" t="t" l="l"/>
              <a:pathLst>
                <a:path h="534010" w="4687214">
                  <a:moveTo>
                    <a:pt x="0" y="0"/>
                  </a:moveTo>
                  <a:lnTo>
                    <a:pt x="4687214" y="0"/>
                  </a:lnTo>
                  <a:lnTo>
                    <a:pt x="4687214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1027" r="0" b="-12102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4687214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References &amp; Citations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442820" y="6746900"/>
            <a:ext cx="4151833" cy="286664"/>
            <a:chOff x="0" y="0"/>
            <a:chExt cx="5535778" cy="3822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535778" cy="382220"/>
            </a:xfrm>
            <a:custGeom>
              <a:avLst/>
              <a:gdLst/>
              <a:ahLst/>
              <a:cxnLst/>
              <a:rect r="r" b="b" t="t" l="l"/>
              <a:pathLst>
                <a:path h="382220" w="5535778">
                  <a:moveTo>
                    <a:pt x="0" y="0"/>
                  </a:moveTo>
                  <a:lnTo>
                    <a:pt x="5535778" y="0"/>
                  </a:lnTo>
                  <a:lnTo>
                    <a:pt x="5535778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206" r="0" b="-23220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5535778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List key papers, articles, or data sources.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433295" y="7137883"/>
            <a:ext cx="14420850" cy="2134057"/>
            <a:chOff x="0" y="0"/>
            <a:chExt cx="19227800" cy="28454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227800" cy="2845435"/>
            </a:xfrm>
            <a:custGeom>
              <a:avLst/>
              <a:gdLst/>
              <a:ahLst/>
              <a:cxnLst/>
              <a:rect r="r" b="b" t="t" l="l"/>
              <a:pathLst>
                <a:path h="2845435" w="19227800">
                  <a:moveTo>
                    <a:pt x="0" y="99695"/>
                  </a:moveTo>
                  <a:cubicBezTo>
                    <a:pt x="0" y="44704"/>
                    <a:pt x="44704" y="0"/>
                    <a:pt x="99695" y="0"/>
                  </a:cubicBezTo>
                  <a:lnTo>
                    <a:pt x="19128105" y="0"/>
                  </a:lnTo>
                  <a:cubicBezTo>
                    <a:pt x="19183223" y="0"/>
                    <a:pt x="19227800" y="44704"/>
                    <a:pt x="19227800" y="99695"/>
                  </a:cubicBezTo>
                  <a:lnTo>
                    <a:pt x="19227800" y="2745740"/>
                  </a:lnTo>
                  <a:cubicBezTo>
                    <a:pt x="19227800" y="2800858"/>
                    <a:pt x="19183096" y="2845435"/>
                    <a:pt x="19128105" y="2845435"/>
                  </a:cubicBezTo>
                  <a:lnTo>
                    <a:pt x="99695" y="2845435"/>
                  </a:lnTo>
                  <a:cubicBezTo>
                    <a:pt x="44577" y="2845435"/>
                    <a:pt x="0" y="2800731"/>
                    <a:pt x="0" y="2745740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2685593" y="7848295"/>
            <a:ext cx="13916254" cy="13716"/>
            <a:chOff x="0" y="0"/>
            <a:chExt cx="18555005" cy="182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685593" y="7309790"/>
            <a:ext cx="12569387" cy="440893"/>
            <a:chOff x="0" y="0"/>
            <a:chExt cx="16759183" cy="58785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759180" cy="587858"/>
            </a:xfrm>
            <a:custGeom>
              <a:avLst/>
              <a:gdLst/>
              <a:ahLst/>
              <a:cxnLst/>
              <a:rect r="r" b="b" t="t" l="l"/>
              <a:pathLst>
                <a:path h="587858" w="16759180">
                  <a:moveTo>
                    <a:pt x="0" y="0"/>
                  </a:moveTo>
                  <a:lnTo>
                    <a:pt x="16759180" y="0"/>
                  </a:lnTo>
                  <a:lnTo>
                    <a:pt x="1675918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4545" r="61578" b="-15231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6759183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u="sng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  <a:hlinkClick r:id="rId10" tooltip="https://irds.ieee.org/images/files/pdf/2017/2017IRDS_MM.pdf"/>
                </a:rPr>
                <a:t>https://irds.ieee.org/images/files/pdf/2017/2017IRDS_MM.pdf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685593" y="8491576"/>
            <a:ext cx="13916254" cy="13716"/>
            <a:chOff x="0" y="0"/>
            <a:chExt cx="18555005" cy="182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57250" y="389572"/>
            <a:ext cx="16573043" cy="1286561"/>
            <a:chOff x="0" y="0"/>
            <a:chExt cx="22097390" cy="171541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2271151" y="585026"/>
            <a:ext cx="13745232" cy="879653"/>
            <a:chOff x="0" y="0"/>
            <a:chExt cx="18326976" cy="11728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" r="0" b="-4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2685593" y="7798308"/>
            <a:ext cx="12569387" cy="440893"/>
            <a:chOff x="0" y="0"/>
            <a:chExt cx="16759183" cy="58785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759180" cy="587858"/>
            </a:xfrm>
            <a:custGeom>
              <a:avLst/>
              <a:gdLst/>
              <a:ahLst/>
              <a:cxnLst/>
              <a:rect r="r" b="b" t="t" l="l"/>
              <a:pathLst>
                <a:path h="587858" w="16759180">
                  <a:moveTo>
                    <a:pt x="0" y="0"/>
                  </a:moveTo>
                  <a:lnTo>
                    <a:pt x="16759180" y="0"/>
                  </a:lnTo>
                  <a:lnTo>
                    <a:pt x="1675918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4545" r="61578" b="-1523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16759183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u="sng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  <a:hlinkClick r:id="rId13" tooltip="https://irds.ieee.org/images/files/pdf/2024/2024IRDS_MM.pdf"/>
                </a:rPr>
                <a:t>https://irds.ieee.org/images/files/pdf/2024/2024IRDS_MM.pdf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685593" y="8286826"/>
            <a:ext cx="12569387" cy="440893"/>
            <a:chOff x="0" y="0"/>
            <a:chExt cx="16759183" cy="58785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6759180" cy="587858"/>
            </a:xfrm>
            <a:custGeom>
              <a:avLst/>
              <a:gdLst/>
              <a:ahLst/>
              <a:cxnLst/>
              <a:rect r="r" b="b" t="t" l="l"/>
              <a:pathLst>
                <a:path h="587858" w="16759180">
                  <a:moveTo>
                    <a:pt x="0" y="0"/>
                  </a:moveTo>
                  <a:lnTo>
                    <a:pt x="16759180" y="0"/>
                  </a:lnTo>
                  <a:lnTo>
                    <a:pt x="1675918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4545" r="61578" b="-15231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6759183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u="sng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  <a:hlinkClick r:id="rId14" tooltip="https://semiengineering.com/7nm-fab-challenges/"/>
                </a:rPr>
                <a:t>https://semiengineering.com/7nm-fab-challenges/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685593" y="8775344"/>
            <a:ext cx="12569387" cy="440893"/>
            <a:chOff x="0" y="0"/>
            <a:chExt cx="16759183" cy="58785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759180" cy="587858"/>
            </a:xfrm>
            <a:custGeom>
              <a:avLst/>
              <a:gdLst/>
              <a:ahLst/>
              <a:cxnLst/>
              <a:rect r="r" b="b" t="t" l="l"/>
              <a:pathLst>
                <a:path h="587858" w="16759180">
                  <a:moveTo>
                    <a:pt x="0" y="0"/>
                  </a:moveTo>
                  <a:lnTo>
                    <a:pt x="16759180" y="0"/>
                  </a:lnTo>
                  <a:lnTo>
                    <a:pt x="1675918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4545" r="61578" b="-1523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6759183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u="sng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  <a:hlinkClick r:id="rId15" tooltip="https://docs.opencv.org/4.13.0/d4/dc6/tutorial_py_template_matching.html"/>
                </a:rPr>
                <a:t>https://docs.opencv.org/4.13.0/d4/dc6/tutorial_py_template_matching.html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DAHSbzOJMzM</dc:identifier>
  <dcterms:modified xsi:type="dcterms:W3CDTF">2011-08-01T06:04:30Z</dcterms:modified>
  <cp:revision>1</cp:revision>
  <dc:title>Idea-Submission-Template_Hackathon-2026-1.pptx</dc:title>
</cp:coreProperties>
</file>